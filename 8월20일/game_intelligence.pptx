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Noto Sans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7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6.xml"/><Relationship Id="rId21" Type="http://schemas.openxmlformats.org/officeDocument/2006/relationships/font" Target="fonts/RobotoMon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otoSans-bold.fntdata"/><Relationship Id="rId16" Type="http://schemas.openxmlformats.org/officeDocument/2006/relationships/font" Target="fonts/NotoSans-regular.fntdata"/><Relationship Id="rId5" Type="http://schemas.openxmlformats.org/officeDocument/2006/relationships/slide" Target="slides/slide1.xml"/><Relationship Id="rId19" Type="http://schemas.openxmlformats.org/officeDocument/2006/relationships/font" Target="fonts/NotoSans-boldItalic.fntdata"/><Relationship Id="rId6" Type="http://schemas.openxmlformats.org/officeDocument/2006/relationships/slide" Target="slides/slide2.xml"/><Relationship Id="rId18" Type="http://schemas.openxmlformats.org/officeDocument/2006/relationships/font" Target="fonts/Noto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안녕하세요.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GAME INTELLIGENCE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프로젝트를 발표하겠습니다.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이 프로젝트는 흩어진 게임 뉴스를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기사 단위가 아니라 사건 단위로 정리하는 AI 인텔리전스 피드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를 목표로 기획했습니다.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게임 뉴스는 하나의 사건이 발생해도 여러 매체와 공식 채널에서 비슷한 내용이 반복해서 올라오기 때문에,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사용자는 같은 내용의 여러 기사를 반복해서 확인하는 불편함이 있습니다.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그래서 이 프로젝트는 사용자가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“오늘 게임 업계에서 무슨 일이 있었고, 그중 무엇이 중요한가?”를 빠르게 파악할 수 있도록 하는 것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을 목표로 했습니다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 프로젝트에서 가장 중요한 개념은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NewsArticle과 Topic의 분리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왼쪽처럼 하나의 사건이 발생하면 여러 매체에서 각각 기사를 작성합니다.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하지만 사용자가 알고 싶은 것은 기사 세 개 자체가 아니라, 결국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“GTA VI 출시 일정이 연기됐다”라는 하나의 사건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그래서 원본 기사는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NewsArticle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로 유지하고, 같은 사건을 다루는 여러 기사는 하나의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Topic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으로 통합하도록 설계했습니다.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그리고 Topic에서는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AI 요약, 중요도, 왜 중요한가, 관련 원문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을 함께 확인할 수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즉, 단순히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기사를 모으는 것이 아니라 기사들이 가리키는 사건을 정리하는 것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이 이 서비스의 핵심입니다.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이렇게 Topic 중심 구조를 핵심 가치로 잡고, 이 구조를 구현하기 위해 필요한 기능들을 요구사항으로 우선순위화했습니다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다음은 기능 요구사항의 우선순위입니다.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전체 요구사항 중에서도 서비스의 핵심 가치와 직접 연결되는 기능을 먼저 정리했습니다.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여기서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중요도는 이 기능이 서비스의 핵심 가치와 얼마나 직접 연결되는지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그리고 난이도는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AI 판단, 데이터 결합, 서비스 연동이 얼마나 복잡한지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를 기준으로 구분했습니다.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특히 중요도와 난이도가 모두 높은 기능은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AI 기사 분석, 동일 사건 Topic 통합, Topic 분석, 개인화 Feed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반면 URL 중복 방지처럼 구현은 비교적 단순하지만 데이터 품질을 위해 꼭 필요한 기능은 중요도를 High로 두었습니다.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전체적으로는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17개의 기능 요구사항과 4개의 비기능 요구사항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을 정의했습니다.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 장은 전체 설계 범위를 한 번에 보여드리는 표이고,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이후부터는 그중 핵심 구조를 중심으로 설명드리겠습니다.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시스템은 먼저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서비스의 책임을 기준으로 분리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사용자 요청은 Vue Frontend에서 API Gateway를 거쳐 각 서비스로 전달됩니다.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User Service는 사용자 관리, News Service는 기사와 Topic을 포함한 콘텐츠 관리, Interest Service는 관심 게임 관리를 담당합니다.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아래쪽은 콘텐츠 처리 영역입니다.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Collector Service가 외부 뉴스와 공식 채널에서 기사를 수집한 뒤,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REST를 통해 News Service에 저장을 요청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기사가 정상적으로 저장되면 News Service에서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news.created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이벤트를 발생시키고, 이 이벤트를 Kafka를 통해 Insight Service가 받습니다.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Insight Service는 AI 분석과 Topic 처리를 수행한 뒤, 결과를 다시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REST로 News Service에 반영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즉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즉시 결과가 필요한 서비스 간 요청은 REST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기사 저장 이후 비동기로 처리할 수 있는 AI 분석은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Kafka 이벤트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로 구분했습니다.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앞 장이 전체 시스템 구조였다면, 이번 장은 그중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AI Intelligence 처리 과정을 확대한 흐름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새로운 NewsArticle이 저장되면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news.created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이벤트를 통해 분석이 시작됩니다.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먼저 기사 단위에서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요약, 키워드, 카테고리, 관련 게임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을 분석합니다.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그다음 이 기사와 관련 있을 가능성이 있는 기존 Topic 후보를 조회하고,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같은 실제 사건을 다루는지 판단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같은 사건이라면 기존 Topic에 연결하고, 아니라면 새로운 Topic을 생성합니다.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이후 Topic에 연결된 기사들을 다시 종합해서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통합 요약, 중요도, 왜 중요한가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를 생성합니다.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정리하면 기사 분석은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“이 기사가 무엇에 대한 기사인가”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Topic 분석은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“이 사건 전체가 무엇이고 왜 중요한가”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를 판단하는 단계입니다.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그리고 AI는 사용자가 Feed를 열 때마다 실행하는 것이 아니라,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뉴스가 유입되는 콘텐츠 처리 과정에서 미리 수행하도록 설계했습니다.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다음은 데이터 모델링입니다.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전체 ERD는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10개의 Entity로 구성했고,  이 장에서는 핵심 관계만 설명드리겠습니다.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앞에서 설명한 기사와 Topic의 처리 흐름을 데이터 구조로 표현하기 위해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NewsArticle, Topic, Game의 관계를 중심으로 모델링했습니다.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기사 하나가 여러 게임을 다룰 수 있고, 하나의 게임도 여러 기사에 등장할 수 있기 때문에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NewsArticle과 Game은 다대다 관계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입니다.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이를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ArticleGame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이라는 중간 Entity로 풀었습니다.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같은 방식으로 Topic과 NewsArticle은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TopicArticle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Topic과 Game은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TopicGame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으로 연결했습니다.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중간 Entity를 별도로 둔 이유는 단순히 관계만 연결하는 것이 아니라, 대표 게임 여부나 연결 정도 같은 관계 정보도 함께 저장하기 위해서입니다. 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confidenceScore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는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개별 기사와 게임의 연결이 얼마나 확실한지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relevanceScore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는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Topic 전체와 게임이 얼마나 관련 있는지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를 나타냅니다. 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f76a7140f9_0_4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f76a7140f9_0_4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다음은 API 설계입니다.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이 장 역시 전체 API를 모두 나열하기보다는,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각 역할과 통신 구조를 가장 잘 보여주는 대표 API만 정리했습니다.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API는 목적에 따라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사용자 API, 콘텐츠 처리 API, AI 내부 API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로 구분했습니다.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사용자 기능은 API Gateway를 통해 Topic 조회나 관심 게임 같은 API를 호출하고, Collector와 Insight Service는 뉴스 저장이나 Topic 후보 조회처럼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내부 처리에 필요한 API를 서비스 간 REST 방식으로 호출하도록 구분했습니다.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사용자 API = 화면이 데이터를 달라고 하는 API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콘텐츠 처리 API = 뉴스와 관계 데이터를 만드는 API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AI 내부 API = AI 파이프라인이 Topic을 처리하는 API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f76a7140f9_0_4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화면설계도 여러 화면 중에서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Topic 중심 구조가 가장 잘 드러나는 Feed와 상세 화면만 중심적으로 보겠습니다.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상단의 오늘 주요뉴스에서는 중요도가 높은 Topic을 먼저 확인할 수 있고, 카테고리를 선택하면 해당 종류의 Topic만 볼 수 있도록 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정렬에서는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최신순, 중요도순, 관심순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으로 Feed 순서를 변경할 수 있고, 시간 범위를 선택해서 조회 대상을 제한할 수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특히 관심순은 사용자가 등록한 관심 게임과 관련된 Topic을 우선적으로 탐색하기 위한 정렬입니다.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각 카드의 기본 단위 역시 개별 기사가 아니라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Topic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이고, 카드를 선택하면 상세 화면으로 이동합니다.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또한 한 번에 너무 많은 Topic을 노출하지 않고, 더보기를 통해 필요한 만큼 이어서 탐색할 수 있도록 했습니다.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즉 이 화면의 목적은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많은 기사 중 하나를 고르는 것이 아니라, 사건 단위의 핵심 정보를 빠르게 탐색하는 것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다음은 Topic 상세 화면입니다.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Feed에서 사건을 빠르게 탐색했다면, 상세 화면에서는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선택한 사건을 더 깊게 이해할 수 있도록 구성했습니다.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먼저 여러 기사를 종합한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AI 핵심 요약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을 보여주고, 그다음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왜 중요한가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를 통해 이 사건의 의미와 영향을 설명합니다.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관련 게임을 통해 어떤 게임과 연결된 사건인지 확인할 수 있고, 하단에서는 Topic에 포함된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관련 기사와 원문 출처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를 직접 확인할 수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즉 AI가 생성한 정보만 보여주는 것이 아니라,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근거가 되는 원문까지 다시 확인할 수 있는 구조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좋아요와 댓글은 Topic 단위의 보조적인 사용자 상호작용으로 배치했습니다.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마지막으로 이번 설계 결과를 정리하겠습니다.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기존의 기사 중심 탐색을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Topic 중심 탐색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으로 바꾸고, 여러 매체에서 반복되는 기사들은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동일 사건 단위로 통합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하도록 설계했습니다.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또 단순히 내용을 요약하는 것에서 끝나지 않고,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중요도와 왜 중요한가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를 함께 제공해 사건의 의미까지 빠르게 파악할 수 있도록 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여기에 관심 게임 정보를 바탕으로 관련 Topic을 우선적으로 보여주는 관심순 Feed도 설계했습니다.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이후에는 커뮤니티, Reddit, YouTube, Steam 등의 반응 데이터와 Topic 타임라인, 신뢰도 분석, 검색·알림, 고급 개인화 기능으로 확장할 수 있습니다.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최종적으로 이 프로젝트가 목표로 하는 것은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여러 게임 뉴스를 하나의 사건으로 이해할 수 있게 만드는 것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이상으로 발표를 마치겠습니다. 감사합니다.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15600" y="992767"/>
            <a:ext cx="113604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15589" y="3778833"/>
            <a:ext cx="113604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15589" y="2867800"/>
            <a:ext cx="113604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589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028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15589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15589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53649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5838" y="-167"/>
            <a:ext cx="6095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353991" y="1644233"/>
            <a:ext cx="53934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3991" y="3737433"/>
            <a:ext cx="53934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85824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15589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15589" y="1474833"/>
            <a:ext cx="113604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5589" y="4202967"/>
            <a:ext cx="113604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LIGHT">
    <p:bg>
      <p:bgPr>
        <a:solidFill>
          <a:srgbClr val="F7F8F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502920" y="292608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777240" y="1325880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3900"/>
              <a:buFont typeface="Noto Sans"/>
              <a:buNone/>
            </a:pPr>
            <a:r>
              <a:rPr b="1" i="0" lang="en-US" sz="3900" u="none" cap="none" strike="noStrike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GAME</a:t>
            </a:r>
            <a:endParaRPr b="0" i="0" sz="3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3900"/>
              <a:buFont typeface="Noto Sans"/>
              <a:buNone/>
            </a:pPr>
            <a:r>
              <a:rPr b="1" i="0" lang="en-US" sz="3900" u="none" cap="none" strike="noStrike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INTELLIGENCE</a:t>
            </a:r>
            <a:endParaRPr b="0" i="0" sz="3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95528" y="3054096"/>
            <a:ext cx="44805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800"/>
              <a:buFont typeface="Noto Sans"/>
              <a:buNone/>
            </a:pPr>
            <a:r>
              <a:rPr b="0" i="0" lang="en-US" sz="1800" u="none" cap="none" strike="noStrike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흩어진 게임 뉴스를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800"/>
              <a:buFont typeface="Noto Sans"/>
              <a:buNone/>
            </a:pPr>
            <a:r>
              <a:rPr b="0" i="0" lang="en-US" sz="1800" u="none" cap="none" strike="noStrike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사건 단위로 정리하는 AI 인텔리전스 피드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804672" y="3913632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50"/>
              <a:buFont typeface="Noto Sans"/>
              <a:buNone/>
            </a:pPr>
            <a:r>
              <a:rPr b="0" i="0" lang="en-US" sz="1150" u="none" cap="none" strike="noStrike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기획 · 요구사항 · UI/UX · DB · API 설계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559552" y="2176272"/>
            <a:ext cx="169164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5870448" y="252374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700"/>
              <a:buFont typeface="Noto Sans"/>
              <a:buNone/>
            </a:pPr>
            <a:r>
              <a:rPr b="1" lang="en-US" sz="17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여러 기사</a:t>
            </a:r>
            <a:endParaRPr sz="1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5888736" y="3026664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Noto Sans"/>
              <a:buNone/>
            </a:pPr>
            <a:r>
              <a:rPr lang="en-US" sz="9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NewsArticle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8" name="Google Shape;68;p15"/>
          <p:cNvCxnSpPr/>
          <p:nvPr/>
        </p:nvCxnSpPr>
        <p:spPr>
          <a:xfrm>
            <a:off x="7479792" y="2834640"/>
            <a:ext cx="338328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" name="Google Shape;69;p15"/>
          <p:cNvSpPr/>
          <p:nvPr/>
        </p:nvSpPr>
        <p:spPr>
          <a:xfrm>
            <a:off x="7882128" y="2176272"/>
            <a:ext cx="1691640" cy="1325880"/>
          </a:xfrm>
          <a:prstGeom prst="roundRect">
            <a:avLst>
              <a:gd fmla="val 5517" name="adj"/>
            </a:avLst>
          </a:prstGeom>
          <a:solidFill>
            <a:srgbClr val="EEF4FB"/>
          </a:solidFill>
          <a:ln cap="flat" cmpd="sng" w="13950">
            <a:solidFill>
              <a:srgbClr val="315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8074152" y="2523744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1800"/>
              <a:buFont typeface="Noto Sans"/>
              <a:buNone/>
            </a:pPr>
            <a:r>
              <a:rPr b="1" lang="en-US" sz="18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하나의 Topic</a:t>
            </a:r>
            <a:endParaRPr sz="1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8165592" y="3026664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Noto Sans"/>
              <a:buNone/>
            </a:pPr>
            <a:r>
              <a:rPr lang="en-US" sz="9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동일 사건 통합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2" name="Google Shape;72;p15"/>
          <p:cNvCxnSpPr/>
          <p:nvPr/>
        </p:nvCxnSpPr>
        <p:spPr>
          <a:xfrm>
            <a:off x="9820656" y="2834640"/>
            <a:ext cx="329184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" name="Google Shape;73;p15"/>
          <p:cNvSpPr/>
          <p:nvPr/>
        </p:nvSpPr>
        <p:spPr>
          <a:xfrm>
            <a:off x="10222992" y="2176272"/>
            <a:ext cx="169164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10351008" y="2523744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650"/>
              <a:buFont typeface="Noto Sans"/>
              <a:buNone/>
            </a:pPr>
            <a:r>
              <a:rPr b="1" lang="en-US" sz="16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Intelligence</a:t>
            </a:r>
            <a:endParaRPr sz="1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0396728" y="3026664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요약 · 중요도 · 맥락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623560" y="4983480"/>
            <a:ext cx="5166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Noto Sans"/>
              <a:buNone/>
            </a:pPr>
            <a:r>
              <a:rPr b="0" lang="en-US" sz="12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여러 기사  →  하나의 Topic  →  요약 · 중요도 · 맥락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502920" y="292608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b="0"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868680" y="228600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왜 Topic인가?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868680" y="71323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Noto Sans"/>
              <a:buNone/>
            </a:pPr>
            <a:r>
              <a:rPr b="0" lang="en-US" sz="10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여러 출처의 원문 기사를 유지하되, 사용자는 하나의 사건 단위로 이해하도록 설계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713232" y="1463040"/>
            <a:ext cx="4663440" cy="1188720"/>
          </a:xfrm>
          <a:prstGeom prst="roundRect">
            <a:avLst>
              <a:gd fmla="val 5385" name="adj"/>
            </a:avLst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713232" y="1463040"/>
            <a:ext cx="82296" cy="1188720"/>
          </a:xfrm>
          <a:prstGeom prst="rect">
            <a:avLst/>
          </a:prstGeom>
          <a:solidFill>
            <a:srgbClr val="315B8A"/>
          </a:solidFill>
          <a:ln cap="flat" cmpd="sng" w="12700">
            <a:solidFill>
              <a:srgbClr val="315B8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914400" y="1618488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830"/>
              <a:buFont typeface="Noto Sans"/>
              <a:buNone/>
            </a:pPr>
            <a:r>
              <a:rPr b="1" lang="en-US" sz="83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PC Gamer</a:t>
            </a:r>
            <a:endParaRPr sz="8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gta_article_screens/pcgamer_img.jpg" id="88" name="Google Shape;88;p16"/>
          <p:cNvPicPr preferRelativeResize="0"/>
          <p:nvPr/>
        </p:nvPicPr>
        <p:blipFill rotWithShape="1">
          <a:blip r:embed="rId3">
            <a:alphaModFix/>
          </a:blip>
          <a:srcRect b="5226" l="0" r="0" t="5226"/>
          <a:stretch/>
        </p:blipFill>
        <p:spPr>
          <a:xfrm>
            <a:off x="914400" y="1901952"/>
            <a:ext cx="1234440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2304288" y="1901952"/>
            <a:ext cx="2880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070"/>
              <a:buFont typeface="Noto Sans"/>
              <a:buNone/>
            </a:pPr>
            <a:r>
              <a:rPr b="1" lang="en-US" sz="107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Grand Theft Auto 6 delayed to November 2026</a:t>
            </a:r>
            <a:endParaRPr sz="10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713232" y="2788920"/>
            <a:ext cx="4663440" cy="1188720"/>
          </a:xfrm>
          <a:prstGeom prst="roundRect">
            <a:avLst>
              <a:gd fmla="val 5385" name="adj"/>
            </a:avLst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713232" y="2788920"/>
            <a:ext cx="82296" cy="1188720"/>
          </a:xfrm>
          <a:prstGeom prst="rect">
            <a:avLst/>
          </a:prstGeom>
          <a:solidFill>
            <a:srgbClr val="315B8A"/>
          </a:solidFill>
          <a:ln cap="flat" cmpd="sng" w="12700">
            <a:solidFill>
              <a:srgbClr val="315B8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914400" y="2944368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830"/>
              <a:buFont typeface="Noto Sans"/>
              <a:buNone/>
            </a:pPr>
            <a:r>
              <a:rPr b="1" lang="en-US" sz="83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VGC</a:t>
            </a:r>
            <a:endParaRPr sz="8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descr="/mnt/data/gta_article_screens/vgc_img.webp" id="93" name="Google Shape;93;p16"/>
          <p:cNvSpPr/>
          <p:nvPr/>
        </p:nvSpPr>
        <p:spPr>
          <a:xfrm>
            <a:off x="914400" y="3227832"/>
            <a:ext cx="1234440" cy="621792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6"/>
          <p:cNvSpPr/>
          <p:nvPr/>
        </p:nvSpPr>
        <p:spPr>
          <a:xfrm>
            <a:off x="2304288" y="3227832"/>
            <a:ext cx="2880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070"/>
              <a:buFont typeface="Noto Sans"/>
              <a:buNone/>
            </a:pPr>
            <a:r>
              <a:rPr b="1" lang="en-US" sz="107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Grand Theft Auto 6 has been delayed again to the end of 2026</a:t>
            </a:r>
            <a:endParaRPr sz="10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713232" y="4114800"/>
            <a:ext cx="4663440" cy="1188720"/>
          </a:xfrm>
          <a:prstGeom prst="roundRect">
            <a:avLst>
              <a:gd fmla="val 5385" name="adj"/>
            </a:avLst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713232" y="4114800"/>
            <a:ext cx="82296" cy="1188720"/>
          </a:xfrm>
          <a:prstGeom prst="rect">
            <a:avLst/>
          </a:prstGeom>
          <a:solidFill>
            <a:srgbClr val="315B8A"/>
          </a:solidFill>
          <a:ln cap="flat" cmpd="sng" w="12700">
            <a:solidFill>
              <a:srgbClr val="315B8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914400" y="4270248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830"/>
              <a:buFont typeface="Noto Sans"/>
              <a:buNone/>
            </a:pPr>
            <a:r>
              <a:rPr b="1" lang="en-US" sz="83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Gematsu</a:t>
            </a:r>
            <a:endParaRPr sz="8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gta_article_screens/gematsu_img.jpg" id="98" name="Google Shape;98;p16"/>
          <p:cNvPicPr preferRelativeResize="0"/>
          <p:nvPr/>
        </p:nvPicPr>
        <p:blipFill rotWithShape="1">
          <a:blip r:embed="rId4">
            <a:alphaModFix/>
          </a:blip>
          <a:srcRect b="5226" l="0" r="0" t="5226"/>
          <a:stretch/>
        </p:blipFill>
        <p:spPr>
          <a:xfrm>
            <a:off x="914400" y="4553712"/>
            <a:ext cx="1234440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/>
          <p:nvPr/>
        </p:nvSpPr>
        <p:spPr>
          <a:xfrm>
            <a:off x="2304288" y="4553712"/>
            <a:ext cx="2880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070"/>
              <a:buFont typeface="Noto Sans"/>
              <a:buNone/>
            </a:pPr>
            <a:r>
              <a:rPr b="1" lang="en-US" sz="107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Grand Theft Auto VI delayed to November 19, 2026</a:t>
            </a:r>
            <a:endParaRPr sz="10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00" name="Google Shape;100;p16"/>
          <p:cNvCxnSpPr/>
          <p:nvPr/>
        </p:nvCxnSpPr>
        <p:spPr>
          <a:xfrm>
            <a:off x="5596128" y="3346704"/>
            <a:ext cx="1060704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" name="Google Shape;101;p16"/>
          <p:cNvSpPr/>
          <p:nvPr/>
        </p:nvSpPr>
        <p:spPr>
          <a:xfrm>
            <a:off x="5641848" y="3017520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Noto Sans"/>
              <a:buNone/>
            </a:pPr>
            <a:r>
              <a:rPr lang="en-US" sz="9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같은 사건인가?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6967728" y="1682496"/>
            <a:ext cx="4498848" cy="3218688"/>
          </a:xfrm>
          <a:prstGeom prst="roundRect">
            <a:avLst>
              <a:gd fmla="val 2273" name="adj"/>
            </a:avLst>
          </a:prstGeom>
          <a:solidFill>
            <a:srgbClr val="FFFFFF"/>
          </a:solidFill>
          <a:ln cap="flat" cmpd="sng" w="13950">
            <a:solidFill>
              <a:srgbClr val="315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7315200" y="1938528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1100"/>
              <a:buFont typeface="Noto Sans"/>
              <a:buNone/>
            </a:pPr>
            <a:r>
              <a:rPr b="1" lang="en-US" sz="11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Topic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7315200" y="2331720"/>
            <a:ext cx="34015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2500"/>
              <a:buFont typeface="Noto Sans"/>
              <a:buNone/>
            </a:pPr>
            <a:r>
              <a:rPr b="1" lang="en-US" sz="25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GTA VI</a:t>
            </a:r>
            <a:endParaRPr sz="2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2500"/>
              <a:buFont typeface="Noto Sans"/>
              <a:buNone/>
            </a:pPr>
            <a:r>
              <a:rPr b="1" lang="en-US" sz="25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출시 일정 연기</a:t>
            </a:r>
            <a:endParaRPr sz="2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05" name="Google Shape;105;p16"/>
          <p:cNvCxnSpPr/>
          <p:nvPr/>
        </p:nvCxnSpPr>
        <p:spPr>
          <a:xfrm>
            <a:off x="7315200" y="3255264"/>
            <a:ext cx="3703320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6"/>
          <p:cNvSpPr/>
          <p:nvPr/>
        </p:nvSpPr>
        <p:spPr>
          <a:xfrm>
            <a:off x="7315200" y="3456432"/>
            <a:ext cx="33101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30"/>
              <a:buFont typeface="Noto Sans"/>
              <a:buNone/>
            </a:pPr>
            <a:r>
              <a:rPr lang="en-US" sz="113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여러 기사가 다루는 하나의 실제 사건</a:t>
            </a:r>
            <a:endParaRPr sz="11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7315200" y="4023360"/>
            <a:ext cx="694944" cy="310896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7315200" y="4105656"/>
            <a:ext cx="694944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AI 요약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8119872" y="4023360"/>
            <a:ext cx="694944" cy="310896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8119872" y="4105656"/>
            <a:ext cx="694944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중요도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8924544" y="4023360"/>
            <a:ext cx="969264" cy="310896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8924544" y="4105656"/>
            <a:ext cx="969264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왜 중요한가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10012680" y="4023360"/>
            <a:ext cx="868680" cy="310896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0012680" y="4105656"/>
            <a:ext cx="8686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관련 원문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15" name="Google Shape;115;p16"/>
          <p:cNvCxnSpPr/>
          <p:nvPr/>
        </p:nvCxnSpPr>
        <p:spPr>
          <a:xfrm>
            <a:off x="713232" y="5815584"/>
            <a:ext cx="10753344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16"/>
          <p:cNvSpPr/>
          <p:nvPr/>
        </p:nvSpPr>
        <p:spPr>
          <a:xfrm>
            <a:off x="731520" y="6062472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000"/>
              <a:buFont typeface="Noto Sans"/>
              <a:buNone/>
            </a:pPr>
            <a:r>
              <a:rPr b="1" lang="en-US" sz="10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NewsArticle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1828800" y="6062472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개별 출처의 원본 기사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4160520" y="606247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1100"/>
              <a:buFont typeface="Noto Sans"/>
              <a:buNone/>
            </a:pPr>
            <a:r>
              <a:rPr b="1" lang="en-US" sz="11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Topic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4773168" y="6062472"/>
            <a:ext cx="2788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여러 기사가 다루는 하나의 실제 사건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7680960" y="6016752"/>
            <a:ext cx="3749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기사를 모으는 것이 아니라, 기사가 가리키는 사건을 정리한다.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5">
            <a:alphaModFix/>
          </a:blip>
          <a:srcRect b="59114" l="0" r="0" t="0"/>
          <a:stretch/>
        </p:blipFill>
        <p:spPr>
          <a:xfrm>
            <a:off x="932700" y="3218706"/>
            <a:ext cx="1234450" cy="63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502920" y="292608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b="0"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868680" y="228600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기능 요구사항 우선순위</a:t>
            </a:r>
            <a:endParaRPr sz="2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868680" y="71323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Noto Sans"/>
              <a:buNone/>
            </a:pPr>
            <a:r>
              <a:rPr b="0" lang="en-US" sz="10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기술서의 기능 요구사항 표에서 핵심 가치와 직접 연결되는 항목을 중심으로 정리</a:t>
            </a:r>
            <a:endParaRPr sz="11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960120" y="144475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1000"/>
              <a:buFont typeface="Noto Sans"/>
              <a:buNone/>
            </a:pPr>
            <a:r>
              <a:rPr b="1" lang="en-US" sz="10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중요도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1664208" y="144475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40"/>
              <a:buFont typeface="Noto Sans"/>
              <a:buNone/>
            </a:pPr>
            <a:r>
              <a:rPr lang="en-US" sz="104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핵심 서비스 가치와 얼마나 직접 연결되는가</a:t>
            </a:r>
            <a:endParaRPr sz="10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166360" y="144475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1000"/>
              <a:buFont typeface="Noto Sans"/>
              <a:buNone/>
            </a:pPr>
            <a:r>
              <a:rPr b="1" lang="en-US" sz="10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난이도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870448" y="1444752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40"/>
              <a:buFont typeface="Noto Sans"/>
              <a:buNone/>
            </a:pPr>
            <a:r>
              <a:rPr lang="en-US" sz="104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AI 판단 · 데이터 결합 · 서비스 연동의 복잡도</a:t>
            </a:r>
            <a:endParaRPr sz="10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960120" y="1828800"/>
            <a:ext cx="8421624" cy="365760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1051560" y="1938528"/>
            <a:ext cx="9601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880"/>
              <a:buFont typeface="Noto Sans"/>
              <a:buNone/>
            </a:pPr>
            <a:r>
              <a:rPr b="1" lang="en-US" sz="8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ID</a:t>
            </a:r>
            <a:endParaRPr sz="8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36" name="Google Shape;136;p17"/>
          <p:cNvCxnSpPr/>
          <p:nvPr/>
        </p:nvCxnSpPr>
        <p:spPr>
          <a:xfrm>
            <a:off x="2103120" y="1828800"/>
            <a:ext cx="0" cy="365760"/>
          </a:xfrm>
          <a:prstGeom prst="straightConnector1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7"/>
          <p:cNvSpPr/>
          <p:nvPr/>
        </p:nvSpPr>
        <p:spPr>
          <a:xfrm>
            <a:off x="2194560" y="1938528"/>
            <a:ext cx="10515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880"/>
              <a:buFont typeface="Noto Sans"/>
              <a:buNone/>
            </a:pPr>
            <a:r>
              <a:rPr b="1" lang="en-US" sz="8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분류</a:t>
            </a:r>
            <a:endParaRPr sz="8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38" name="Google Shape;138;p17"/>
          <p:cNvCxnSpPr/>
          <p:nvPr/>
        </p:nvCxnSpPr>
        <p:spPr>
          <a:xfrm>
            <a:off x="3337560" y="1828800"/>
            <a:ext cx="0" cy="365760"/>
          </a:xfrm>
          <a:prstGeom prst="straightConnector1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17"/>
          <p:cNvSpPr/>
          <p:nvPr/>
        </p:nvSpPr>
        <p:spPr>
          <a:xfrm>
            <a:off x="3429000" y="1938528"/>
            <a:ext cx="39776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880"/>
              <a:buFont typeface="Noto Sans"/>
              <a:buNone/>
            </a:pPr>
            <a:r>
              <a:rPr b="1" lang="en-US" sz="8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요구사항명</a:t>
            </a:r>
            <a:endParaRPr sz="8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40" name="Google Shape;140;p17"/>
          <p:cNvCxnSpPr/>
          <p:nvPr/>
        </p:nvCxnSpPr>
        <p:spPr>
          <a:xfrm>
            <a:off x="7498080" y="1828800"/>
            <a:ext cx="0" cy="365760"/>
          </a:xfrm>
          <a:prstGeom prst="straightConnector1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17"/>
          <p:cNvSpPr/>
          <p:nvPr/>
        </p:nvSpPr>
        <p:spPr>
          <a:xfrm>
            <a:off x="7589520" y="1938528"/>
            <a:ext cx="8229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1000"/>
              <a:buFont typeface="Noto Sans"/>
              <a:buNone/>
            </a:pPr>
            <a:r>
              <a:rPr b="1" lang="en-US" sz="10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중요도</a:t>
            </a:r>
            <a:endParaRPr sz="8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42" name="Google Shape;142;p17"/>
          <p:cNvCxnSpPr/>
          <p:nvPr/>
        </p:nvCxnSpPr>
        <p:spPr>
          <a:xfrm>
            <a:off x="8503920" y="1828800"/>
            <a:ext cx="0" cy="365760"/>
          </a:xfrm>
          <a:prstGeom prst="straightConnector1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17"/>
          <p:cNvSpPr/>
          <p:nvPr/>
        </p:nvSpPr>
        <p:spPr>
          <a:xfrm>
            <a:off x="8595360" y="1938528"/>
            <a:ext cx="694944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1000"/>
              <a:buFont typeface="Noto Sans"/>
              <a:buNone/>
            </a:pPr>
            <a:r>
              <a:rPr b="1" lang="en-US" sz="10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난이도</a:t>
            </a:r>
            <a:endParaRPr sz="8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960120" y="2212848"/>
            <a:ext cx="8421624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1051560" y="2322576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REQ-F-002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46" name="Google Shape;146;p17"/>
          <p:cNvCxnSpPr/>
          <p:nvPr/>
        </p:nvCxnSpPr>
        <p:spPr>
          <a:xfrm>
            <a:off x="2103120" y="2212848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7"/>
          <p:cNvSpPr/>
          <p:nvPr/>
        </p:nvSpPr>
        <p:spPr>
          <a:xfrm>
            <a:off x="2194560" y="2322576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뉴스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48" name="Google Shape;148;p17"/>
          <p:cNvCxnSpPr/>
          <p:nvPr/>
        </p:nvCxnSpPr>
        <p:spPr>
          <a:xfrm>
            <a:off x="3337560" y="2212848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7"/>
          <p:cNvSpPr/>
          <p:nvPr/>
        </p:nvSpPr>
        <p:spPr>
          <a:xfrm>
            <a:off x="3429000" y="2322576"/>
            <a:ext cx="39776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040"/>
              <a:buFont typeface="Noto Sans"/>
              <a:buNone/>
            </a:pPr>
            <a:r>
              <a:rPr lang="en-US" sz="104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외부 뉴스 수집</a:t>
            </a:r>
            <a:endParaRPr sz="10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50" name="Google Shape;150;p17"/>
          <p:cNvCxnSpPr/>
          <p:nvPr/>
        </p:nvCxnSpPr>
        <p:spPr>
          <a:xfrm>
            <a:off x="7498080" y="2212848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17"/>
          <p:cNvSpPr/>
          <p:nvPr/>
        </p:nvSpPr>
        <p:spPr>
          <a:xfrm>
            <a:off x="7589520" y="2322576"/>
            <a:ext cx="8229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52" name="Google Shape;152;p17"/>
          <p:cNvCxnSpPr/>
          <p:nvPr/>
        </p:nvCxnSpPr>
        <p:spPr>
          <a:xfrm>
            <a:off x="8503920" y="2212848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17"/>
          <p:cNvSpPr/>
          <p:nvPr/>
        </p:nvSpPr>
        <p:spPr>
          <a:xfrm>
            <a:off x="8595360" y="2322576"/>
            <a:ext cx="69494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60120" y="2706624"/>
            <a:ext cx="8421624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1051560" y="2816352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REQ-F-003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56" name="Google Shape;156;p17"/>
          <p:cNvCxnSpPr/>
          <p:nvPr/>
        </p:nvCxnSpPr>
        <p:spPr>
          <a:xfrm>
            <a:off x="2103120" y="2706624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17"/>
          <p:cNvSpPr/>
          <p:nvPr/>
        </p:nvSpPr>
        <p:spPr>
          <a:xfrm>
            <a:off x="2194560" y="2816352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뉴스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58" name="Google Shape;158;p17"/>
          <p:cNvCxnSpPr/>
          <p:nvPr/>
        </p:nvCxnSpPr>
        <p:spPr>
          <a:xfrm>
            <a:off x="3337560" y="2706624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17"/>
          <p:cNvSpPr/>
          <p:nvPr/>
        </p:nvSpPr>
        <p:spPr>
          <a:xfrm>
            <a:off x="3429000" y="2816352"/>
            <a:ext cx="39776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040"/>
              <a:buFont typeface="Noto Sans"/>
              <a:buNone/>
            </a:pPr>
            <a:r>
              <a:rPr lang="en-US" sz="104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중복 기사 방지</a:t>
            </a:r>
            <a:endParaRPr sz="10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60" name="Google Shape;160;p17"/>
          <p:cNvCxnSpPr/>
          <p:nvPr/>
        </p:nvCxnSpPr>
        <p:spPr>
          <a:xfrm>
            <a:off x="7498080" y="2706624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7"/>
          <p:cNvSpPr/>
          <p:nvPr/>
        </p:nvSpPr>
        <p:spPr>
          <a:xfrm>
            <a:off x="7589520" y="2816352"/>
            <a:ext cx="8229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62" name="Google Shape;162;p17"/>
          <p:cNvCxnSpPr/>
          <p:nvPr/>
        </p:nvCxnSpPr>
        <p:spPr>
          <a:xfrm>
            <a:off x="8503920" y="2706624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17"/>
          <p:cNvSpPr/>
          <p:nvPr/>
        </p:nvSpPr>
        <p:spPr>
          <a:xfrm>
            <a:off x="8595360" y="2816352"/>
            <a:ext cx="69494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하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960120" y="3200400"/>
            <a:ext cx="8421624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1051560" y="3310128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REQ-F-004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66" name="Google Shape;166;p17"/>
          <p:cNvCxnSpPr/>
          <p:nvPr/>
        </p:nvCxnSpPr>
        <p:spPr>
          <a:xfrm>
            <a:off x="2103120" y="3200400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7"/>
          <p:cNvSpPr/>
          <p:nvPr/>
        </p:nvSpPr>
        <p:spPr>
          <a:xfrm>
            <a:off x="2194560" y="3310128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b="1"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AI 분석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68" name="Google Shape;168;p17"/>
          <p:cNvCxnSpPr/>
          <p:nvPr/>
        </p:nvCxnSpPr>
        <p:spPr>
          <a:xfrm>
            <a:off x="3337560" y="3200400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7"/>
          <p:cNvSpPr/>
          <p:nvPr/>
        </p:nvSpPr>
        <p:spPr>
          <a:xfrm>
            <a:off x="3429000" y="3310128"/>
            <a:ext cx="39776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040"/>
              <a:buFont typeface="Noto Sans"/>
              <a:buNone/>
            </a:pPr>
            <a:r>
              <a:rPr b="1" lang="en-US" sz="104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기사 분석</a:t>
            </a:r>
            <a:endParaRPr sz="10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0" name="Google Shape;170;p17"/>
          <p:cNvCxnSpPr/>
          <p:nvPr/>
        </p:nvCxnSpPr>
        <p:spPr>
          <a:xfrm>
            <a:off x="7498080" y="3200400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7"/>
          <p:cNvSpPr/>
          <p:nvPr/>
        </p:nvSpPr>
        <p:spPr>
          <a:xfrm>
            <a:off x="7589520" y="3310128"/>
            <a:ext cx="8229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2" name="Google Shape;172;p17"/>
          <p:cNvCxnSpPr/>
          <p:nvPr/>
        </p:nvCxnSpPr>
        <p:spPr>
          <a:xfrm>
            <a:off x="8503920" y="3200400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17"/>
          <p:cNvSpPr/>
          <p:nvPr/>
        </p:nvSpPr>
        <p:spPr>
          <a:xfrm>
            <a:off x="8595360" y="3310128"/>
            <a:ext cx="69494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상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960120" y="3694176"/>
            <a:ext cx="8421624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1051560" y="3803904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REQ-F-005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6" name="Google Shape;176;p17"/>
          <p:cNvCxnSpPr/>
          <p:nvPr/>
        </p:nvCxnSpPr>
        <p:spPr>
          <a:xfrm>
            <a:off x="2103120" y="3694176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17"/>
          <p:cNvSpPr/>
          <p:nvPr/>
        </p:nvSpPr>
        <p:spPr>
          <a:xfrm>
            <a:off x="2194560" y="3803904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b="1"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8" name="Google Shape;178;p17"/>
          <p:cNvCxnSpPr/>
          <p:nvPr/>
        </p:nvCxnSpPr>
        <p:spPr>
          <a:xfrm>
            <a:off x="3337560" y="3694176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7"/>
          <p:cNvSpPr/>
          <p:nvPr/>
        </p:nvSpPr>
        <p:spPr>
          <a:xfrm>
            <a:off x="3429000" y="3803904"/>
            <a:ext cx="39776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040"/>
              <a:buFont typeface="Noto Sans"/>
              <a:buNone/>
            </a:pPr>
            <a:r>
              <a:rPr b="1" lang="en-US" sz="104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동일 사건 통합</a:t>
            </a:r>
            <a:endParaRPr sz="10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80" name="Google Shape;180;p17"/>
          <p:cNvCxnSpPr/>
          <p:nvPr/>
        </p:nvCxnSpPr>
        <p:spPr>
          <a:xfrm>
            <a:off x="7498080" y="3694176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17"/>
          <p:cNvSpPr/>
          <p:nvPr/>
        </p:nvSpPr>
        <p:spPr>
          <a:xfrm>
            <a:off x="7589520" y="3803904"/>
            <a:ext cx="8229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82" name="Google Shape;182;p17"/>
          <p:cNvCxnSpPr/>
          <p:nvPr/>
        </p:nvCxnSpPr>
        <p:spPr>
          <a:xfrm>
            <a:off x="8503920" y="3694176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17"/>
          <p:cNvSpPr/>
          <p:nvPr/>
        </p:nvSpPr>
        <p:spPr>
          <a:xfrm>
            <a:off x="8595360" y="3803904"/>
            <a:ext cx="69494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상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960120" y="4187952"/>
            <a:ext cx="8421624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1051560" y="4297680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REQ-F-006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86" name="Google Shape;186;p17"/>
          <p:cNvCxnSpPr/>
          <p:nvPr/>
        </p:nvCxnSpPr>
        <p:spPr>
          <a:xfrm>
            <a:off x="2103120" y="4187952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7"/>
          <p:cNvSpPr/>
          <p:nvPr/>
        </p:nvSpPr>
        <p:spPr>
          <a:xfrm>
            <a:off x="2194560" y="4297680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b="1"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88" name="Google Shape;188;p17"/>
          <p:cNvCxnSpPr/>
          <p:nvPr/>
        </p:nvCxnSpPr>
        <p:spPr>
          <a:xfrm>
            <a:off x="3337560" y="4187952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17"/>
          <p:cNvSpPr/>
          <p:nvPr/>
        </p:nvSpPr>
        <p:spPr>
          <a:xfrm>
            <a:off x="3429000" y="4297680"/>
            <a:ext cx="39776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040"/>
              <a:buFont typeface="Noto Sans"/>
              <a:buNone/>
            </a:pPr>
            <a:r>
              <a:rPr b="1" lang="en-US" sz="104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분석</a:t>
            </a:r>
            <a:endParaRPr sz="10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90" name="Google Shape;190;p17"/>
          <p:cNvCxnSpPr/>
          <p:nvPr/>
        </p:nvCxnSpPr>
        <p:spPr>
          <a:xfrm>
            <a:off x="7498080" y="4187952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7"/>
          <p:cNvSpPr/>
          <p:nvPr/>
        </p:nvSpPr>
        <p:spPr>
          <a:xfrm>
            <a:off x="7589520" y="4297680"/>
            <a:ext cx="8229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92" name="Google Shape;192;p17"/>
          <p:cNvCxnSpPr/>
          <p:nvPr/>
        </p:nvCxnSpPr>
        <p:spPr>
          <a:xfrm>
            <a:off x="8503920" y="4187952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7"/>
          <p:cNvSpPr/>
          <p:nvPr/>
        </p:nvSpPr>
        <p:spPr>
          <a:xfrm>
            <a:off x="8595360" y="4297680"/>
            <a:ext cx="69494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상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960120" y="4681728"/>
            <a:ext cx="8421624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1051560" y="4791456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REQ-F-007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96" name="Google Shape;196;p17"/>
          <p:cNvCxnSpPr/>
          <p:nvPr/>
        </p:nvCxnSpPr>
        <p:spPr>
          <a:xfrm>
            <a:off x="2103120" y="4681728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17"/>
          <p:cNvSpPr/>
          <p:nvPr/>
        </p:nvSpPr>
        <p:spPr>
          <a:xfrm>
            <a:off x="2194560" y="4791456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Feed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98" name="Google Shape;198;p17"/>
          <p:cNvCxnSpPr/>
          <p:nvPr/>
        </p:nvCxnSpPr>
        <p:spPr>
          <a:xfrm>
            <a:off x="3337560" y="4681728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17"/>
          <p:cNvSpPr/>
          <p:nvPr/>
        </p:nvSpPr>
        <p:spPr>
          <a:xfrm>
            <a:off x="3429000" y="4791456"/>
            <a:ext cx="39776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040"/>
              <a:buFont typeface="Noto Sans"/>
              <a:buNone/>
            </a:pPr>
            <a:r>
              <a:rPr lang="en-US" sz="104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Feed</a:t>
            </a:r>
            <a:endParaRPr sz="10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00" name="Google Shape;200;p17"/>
          <p:cNvCxnSpPr/>
          <p:nvPr/>
        </p:nvCxnSpPr>
        <p:spPr>
          <a:xfrm>
            <a:off x="7498080" y="4681728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7"/>
          <p:cNvSpPr/>
          <p:nvPr/>
        </p:nvSpPr>
        <p:spPr>
          <a:xfrm>
            <a:off x="7589520" y="4791456"/>
            <a:ext cx="8229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02" name="Google Shape;202;p17"/>
          <p:cNvCxnSpPr/>
          <p:nvPr/>
        </p:nvCxnSpPr>
        <p:spPr>
          <a:xfrm>
            <a:off x="8503920" y="4681728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7"/>
          <p:cNvSpPr/>
          <p:nvPr/>
        </p:nvSpPr>
        <p:spPr>
          <a:xfrm>
            <a:off x="8595360" y="4791456"/>
            <a:ext cx="69494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960120" y="5175504"/>
            <a:ext cx="8421624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1051560" y="5285232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REQ-F-014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06" name="Google Shape;206;p17"/>
          <p:cNvCxnSpPr/>
          <p:nvPr/>
        </p:nvCxnSpPr>
        <p:spPr>
          <a:xfrm>
            <a:off x="2103120" y="5175504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17"/>
          <p:cNvSpPr/>
          <p:nvPr/>
        </p:nvSpPr>
        <p:spPr>
          <a:xfrm>
            <a:off x="2194560" y="5285232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b="1"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개인화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08" name="Google Shape;208;p17"/>
          <p:cNvCxnSpPr/>
          <p:nvPr/>
        </p:nvCxnSpPr>
        <p:spPr>
          <a:xfrm>
            <a:off x="3337560" y="5175504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7"/>
          <p:cNvSpPr/>
          <p:nvPr/>
        </p:nvSpPr>
        <p:spPr>
          <a:xfrm>
            <a:off x="3429000" y="5285232"/>
            <a:ext cx="39776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040"/>
              <a:buFont typeface="Noto Sans"/>
              <a:buNone/>
            </a:pPr>
            <a:r>
              <a:rPr b="1" lang="en-US" sz="104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개인화 Feed</a:t>
            </a:r>
            <a:endParaRPr sz="10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10" name="Google Shape;210;p17"/>
          <p:cNvCxnSpPr/>
          <p:nvPr/>
        </p:nvCxnSpPr>
        <p:spPr>
          <a:xfrm>
            <a:off x="7498080" y="5175504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17"/>
          <p:cNvSpPr/>
          <p:nvPr/>
        </p:nvSpPr>
        <p:spPr>
          <a:xfrm>
            <a:off x="7589520" y="5285232"/>
            <a:ext cx="8229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12" name="Google Shape;212;p17"/>
          <p:cNvCxnSpPr/>
          <p:nvPr/>
        </p:nvCxnSpPr>
        <p:spPr>
          <a:xfrm>
            <a:off x="8503920" y="5175504"/>
            <a:ext cx="0" cy="420624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17"/>
          <p:cNvSpPr/>
          <p:nvPr/>
        </p:nvSpPr>
        <p:spPr>
          <a:xfrm>
            <a:off x="8595360" y="5285232"/>
            <a:ext cx="69494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20"/>
              <a:buFont typeface="Noto Sans"/>
              <a:buNone/>
            </a:pPr>
            <a:r>
              <a:rPr lang="en-US" sz="9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상</a:t>
            </a:r>
            <a:endParaRPr sz="9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960120" y="5989320"/>
            <a:ext cx="9308592" cy="457200"/>
          </a:xfrm>
          <a:prstGeom prst="rect">
            <a:avLst/>
          </a:prstGeom>
          <a:solidFill>
            <a:srgbClr val="EEF4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1143000" y="6153912"/>
            <a:ext cx="9144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950"/>
              <a:buFont typeface="Noto Sans"/>
              <a:buNone/>
            </a:pPr>
            <a:r>
              <a:rPr b="1" lang="en-US" sz="9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High + 상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2121408" y="6153912"/>
            <a:ext cx="53035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50"/>
              <a:buFont typeface="Noto Sans"/>
              <a:buNone/>
            </a:pPr>
            <a:r>
              <a:rPr lang="en-US" sz="9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AI 기사 분석 · 동일 사건 통합 · Topic 분석 · 개인화 Feed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7818120" y="6153912"/>
            <a:ext cx="22860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Noto Sans"/>
              <a:buNone/>
            </a:pPr>
            <a:r>
              <a:rPr lang="en-US" sz="9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중요도와 난이도는 별개의 축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/>
          <p:nvPr/>
        </p:nvSpPr>
        <p:spPr>
          <a:xfrm>
            <a:off x="502920" y="292608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b="0"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868680" y="228600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전체 요구사항 스냅샷</a:t>
            </a:r>
            <a:endParaRPr sz="2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868680" y="71323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Noto Sans"/>
              <a:buNone/>
            </a:pPr>
            <a:r>
              <a:rPr b="0" lang="en-US" sz="10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기능 요구사항 17개와 비기능 요구사항 4개를 정리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530352" y="117043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1000"/>
              <a:buFont typeface="Noto Sans"/>
              <a:buNone/>
            </a:pPr>
            <a:r>
              <a:rPr b="1" lang="en-US" sz="10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기능 요구사항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530352" y="1417320"/>
            <a:ext cx="5632704" cy="228600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566928" y="1485900"/>
            <a:ext cx="768096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50"/>
              <a:buFont typeface="Noto Sans"/>
              <a:buNone/>
            </a:pPr>
            <a:r>
              <a:rPr b="1" lang="en-US" sz="6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ID</a:t>
            </a:r>
            <a:endParaRPr sz="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29" name="Google Shape;229;p18"/>
          <p:cNvCxnSpPr/>
          <p:nvPr/>
        </p:nvCxnSpPr>
        <p:spPr>
          <a:xfrm>
            <a:off x="1371600" y="1417320"/>
            <a:ext cx="0" cy="228600"/>
          </a:xfrm>
          <a:prstGeom prst="straightConnector1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8"/>
          <p:cNvSpPr/>
          <p:nvPr/>
        </p:nvSpPr>
        <p:spPr>
          <a:xfrm>
            <a:off x="1408176" y="1485900"/>
            <a:ext cx="676656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50"/>
              <a:buFont typeface="Noto Sans"/>
              <a:buNone/>
            </a:pPr>
            <a:r>
              <a:rPr b="1" lang="en-US" sz="6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분류</a:t>
            </a:r>
            <a:endParaRPr sz="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31" name="Google Shape;231;p18"/>
          <p:cNvCxnSpPr/>
          <p:nvPr/>
        </p:nvCxnSpPr>
        <p:spPr>
          <a:xfrm>
            <a:off x="2121408" y="1417320"/>
            <a:ext cx="0" cy="228600"/>
          </a:xfrm>
          <a:prstGeom prst="straightConnector1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8"/>
          <p:cNvSpPr/>
          <p:nvPr/>
        </p:nvSpPr>
        <p:spPr>
          <a:xfrm>
            <a:off x="2157984" y="1485900"/>
            <a:ext cx="279806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50"/>
              <a:buFont typeface="Noto Sans"/>
              <a:buNone/>
            </a:pPr>
            <a:r>
              <a:rPr b="1" lang="en-US" sz="6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요구사항명</a:t>
            </a:r>
            <a:endParaRPr sz="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33" name="Google Shape;233;p18"/>
          <p:cNvCxnSpPr/>
          <p:nvPr/>
        </p:nvCxnSpPr>
        <p:spPr>
          <a:xfrm>
            <a:off x="4992624" y="1417320"/>
            <a:ext cx="0" cy="228600"/>
          </a:xfrm>
          <a:prstGeom prst="straightConnector1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8"/>
          <p:cNvSpPr/>
          <p:nvPr/>
        </p:nvSpPr>
        <p:spPr>
          <a:xfrm>
            <a:off x="5029200" y="1485900"/>
            <a:ext cx="56692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1000"/>
              <a:buFont typeface="Noto Sans"/>
              <a:buNone/>
            </a:pPr>
            <a:r>
              <a:rPr b="1" lang="en-US" sz="10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중요도</a:t>
            </a:r>
            <a:endParaRPr sz="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35" name="Google Shape;235;p18"/>
          <p:cNvCxnSpPr/>
          <p:nvPr/>
        </p:nvCxnSpPr>
        <p:spPr>
          <a:xfrm>
            <a:off x="5632704" y="1417320"/>
            <a:ext cx="0" cy="228600"/>
          </a:xfrm>
          <a:prstGeom prst="straightConnector1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8"/>
          <p:cNvSpPr/>
          <p:nvPr/>
        </p:nvSpPr>
        <p:spPr>
          <a:xfrm>
            <a:off x="5669280" y="1485900"/>
            <a:ext cx="4572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1000"/>
              <a:buFont typeface="Noto Sans"/>
              <a:buNone/>
            </a:pPr>
            <a:r>
              <a:rPr b="1" lang="en-US" sz="10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난이도</a:t>
            </a:r>
            <a:endParaRPr sz="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530352" y="166420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562356" y="171450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REQ-F-001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39" name="Google Shape;239;p18"/>
          <p:cNvCxnSpPr/>
          <p:nvPr/>
        </p:nvCxnSpPr>
        <p:spPr>
          <a:xfrm>
            <a:off x="1371600" y="16642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8"/>
          <p:cNvSpPr/>
          <p:nvPr/>
        </p:nvSpPr>
        <p:spPr>
          <a:xfrm>
            <a:off x="1403604" y="171450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인증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1" name="Google Shape;241;p18"/>
          <p:cNvCxnSpPr/>
          <p:nvPr/>
        </p:nvCxnSpPr>
        <p:spPr>
          <a:xfrm>
            <a:off x="2121408" y="16642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8"/>
          <p:cNvSpPr/>
          <p:nvPr/>
        </p:nvSpPr>
        <p:spPr>
          <a:xfrm>
            <a:off x="2153412" y="171450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사용자 로그인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3" name="Google Shape;243;p18"/>
          <p:cNvCxnSpPr/>
          <p:nvPr/>
        </p:nvCxnSpPr>
        <p:spPr>
          <a:xfrm>
            <a:off x="4992624" y="16642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18"/>
          <p:cNvSpPr/>
          <p:nvPr/>
        </p:nvSpPr>
        <p:spPr>
          <a:xfrm>
            <a:off x="5024628" y="171450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5" name="Google Shape;245;p18"/>
          <p:cNvCxnSpPr/>
          <p:nvPr/>
        </p:nvCxnSpPr>
        <p:spPr>
          <a:xfrm>
            <a:off x="5632704" y="16642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8"/>
          <p:cNvSpPr/>
          <p:nvPr/>
        </p:nvSpPr>
        <p:spPr>
          <a:xfrm>
            <a:off x="5664708" y="171450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530352" y="186994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562356" y="192024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REQ-F-002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9" name="Google Shape;249;p18"/>
          <p:cNvCxnSpPr/>
          <p:nvPr/>
        </p:nvCxnSpPr>
        <p:spPr>
          <a:xfrm>
            <a:off x="1371600" y="18699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18"/>
          <p:cNvSpPr/>
          <p:nvPr/>
        </p:nvSpPr>
        <p:spPr>
          <a:xfrm>
            <a:off x="1403604" y="192024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뉴스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51" name="Google Shape;251;p18"/>
          <p:cNvCxnSpPr/>
          <p:nvPr/>
        </p:nvCxnSpPr>
        <p:spPr>
          <a:xfrm>
            <a:off x="2121408" y="18699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18"/>
          <p:cNvSpPr/>
          <p:nvPr/>
        </p:nvSpPr>
        <p:spPr>
          <a:xfrm>
            <a:off x="2153412" y="192024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외부 뉴스 수집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53" name="Google Shape;253;p18"/>
          <p:cNvCxnSpPr/>
          <p:nvPr/>
        </p:nvCxnSpPr>
        <p:spPr>
          <a:xfrm>
            <a:off x="4992624" y="18699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8"/>
          <p:cNvSpPr/>
          <p:nvPr/>
        </p:nvSpPr>
        <p:spPr>
          <a:xfrm>
            <a:off x="5024628" y="192024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55" name="Google Shape;255;p18"/>
          <p:cNvCxnSpPr/>
          <p:nvPr/>
        </p:nvCxnSpPr>
        <p:spPr>
          <a:xfrm>
            <a:off x="5632704" y="18699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8"/>
          <p:cNvSpPr/>
          <p:nvPr/>
        </p:nvSpPr>
        <p:spPr>
          <a:xfrm>
            <a:off x="5664708" y="192024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530352" y="207568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562356" y="212598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REQ-F-003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59" name="Google Shape;259;p18"/>
          <p:cNvCxnSpPr/>
          <p:nvPr/>
        </p:nvCxnSpPr>
        <p:spPr>
          <a:xfrm>
            <a:off x="1371600" y="207568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18"/>
          <p:cNvSpPr/>
          <p:nvPr/>
        </p:nvSpPr>
        <p:spPr>
          <a:xfrm>
            <a:off x="1403604" y="212598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뉴스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61" name="Google Shape;261;p18"/>
          <p:cNvCxnSpPr/>
          <p:nvPr/>
        </p:nvCxnSpPr>
        <p:spPr>
          <a:xfrm>
            <a:off x="2121408" y="207568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8"/>
          <p:cNvSpPr/>
          <p:nvPr/>
        </p:nvSpPr>
        <p:spPr>
          <a:xfrm>
            <a:off x="2153412" y="212598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중복 기사 방지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63" name="Google Shape;263;p18"/>
          <p:cNvCxnSpPr/>
          <p:nvPr/>
        </p:nvCxnSpPr>
        <p:spPr>
          <a:xfrm>
            <a:off x="4992624" y="207568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8"/>
          <p:cNvSpPr/>
          <p:nvPr/>
        </p:nvSpPr>
        <p:spPr>
          <a:xfrm>
            <a:off x="5024628" y="212598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65" name="Google Shape;265;p18"/>
          <p:cNvCxnSpPr/>
          <p:nvPr/>
        </p:nvCxnSpPr>
        <p:spPr>
          <a:xfrm>
            <a:off x="5632704" y="207568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8"/>
          <p:cNvSpPr/>
          <p:nvPr/>
        </p:nvSpPr>
        <p:spPr>
          <a:xfrm>
            <a:off x="5664708" y="212598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하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530352" y="228142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562356" y="233172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REQ-F-004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69" name="Google Shape;269;p18"/>
          <p:cNvCxnSpPr/>
          <p:nvPr/>
        </p:nvCxnSpPr>
        <p:spPr>
          <a:xfrm>
            <a:off x="1371600" y="228142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8"/>
          <p:cNvSpPr/>
          <p:nvPr/>
        </p:nvSpPr>
        <p:spPr>
          <a:xfrm>
            <a:off x="1403604" y="233172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b="1"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AI 분석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71" name="Google Shape;271;p18"/>
          <p:cNvCxnSpPr/>
          <p:nvPr/>
        </p:nvCxnSpPr>
        <p:spPr>
          <a:xfrm>
            <a:off x="2121408" y="228142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8"/>
          <p:cNvSpPr/>
          <p:nvPr/>
        </p:nvSpPr>
        <p:spPr>
          <a:xfrm>
            <a:off x="2153412" y="233172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b="1"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기사 분석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73" name="Google Shape;273;p18"/>
          <p:cNvCxnSpPr/>
          <p:nvPr/>
        </p:nvCxnSpPr>
        <p:spPr>
          <a:xfrm>
            <a:off x="4992624" y="228142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8"/>
          <p:cNvSpPr/>
          <p:nvPr/>
        </p:nvSpPr>
        <p:spPr>
          <a:xfrm>
            <a:off x="5024628" y="233172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75" name="Google Shape;275;p18"/>
          <p:cNvCxnSpPr/>
          <p:nvPr/>
        </p:nvCxnSpPr>
        <p:spPr>
          <a:xfrm>
            <a:off x="5632704" y="228142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18"/>
          <p:cNvSpPr/>
          <p:nvPr/>
        </p:nvSpPr>
        <p:spPr>
          <a:xfrm>
            <a:off x="5664708" y="233172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상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530352" y="248716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562356" y="253746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REQ-F-005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79" name="Google Shape;279;p18"/>
          <p:cNvCxnSpPr/>
          <p:nvPr/>
        </p:nvCxnSpPr>
        <p:spPr>
          <a:xfrm>
            <a:off x="1371600" y="248716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8"/>
          <p:cNvSpPr/>
          <p:nvPr/>
        </p:nvSpPr>
        <p:spPr>
          <a:xfrm>
            <a:off x="1403604" y="253746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b="1"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81" name="Google Shape;281;p18"/>
          <p:cNvCxnSpPr/>
          <p:nvPr/>
        </p:nvCxnSpPr>
        <p:spPr>
          <a:xfrm>
            <a:off x="2121408" y="248716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8"/>
          <p:cNvSpPr/>
          <p:nvPr/>
        </p:nvSpPr>
        <p:spPr>
          <a:xfrm>
            <a:off x="2153412" y="253746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b="1"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동일 사건 통합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83" name="Google Shape;283;p18"/>
          <p:cNvCxnSpPr/>
          <p:nvPr/>
        </p:nvCxnSpPr>
        <p:spPr>
          <a:xfrm>
            <a:off x="4992624" y="248716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8"/>
          <p:cNvSpPr/>
          <p:nvPr/>
        </p:nvSpPr>
        <p:spPr>
          <a:xfrm>
            <a:off x="5024628" y="253746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85" name="Google Shape;285;p18"/>
          <p:cNvCxnSpPr/>
          <p:nvPr/>
        </p:nvCxnSpPr>
        <p:spPr>
          <a:xfrm>
            <a:off x="5632704" y="248716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8"/>
          <p:cNvSpPr/>
          <p:nvPr/>
        </p:nvSpPr>
        <p:spPr>
          <a:xfrm>
            <a:off x="5664708" y="253746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상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530352" y="269290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562356" y="274320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REQ-F-006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89" name="Google Shape;289;p18"/>
          <p:cNvCxnSpPr/>
          <p:nvPr/>
        </p:nvCxnSpPr>
        <p:spPr>
          <a:xfrm>
            <a:off x="1371600" y="26929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8"/>
          <p:cNvSpPr/>
          <p:nvPr/>
        </p:nvSpPr>
        <p:spPr>
          <a:xfrm>
            <a:off x="1403604" y="274320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b="1"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91" name="Google Shape;291;p18"/>
          <p:cNvCxnSpPr/>
          <p:nvPr/>
        </p:nvCxnSpPr>
        <p:spPr>
          <a:xfrm>
            <a:off x="2121408" y="26929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8"/>
          <p:cNvSpPr/>
          <p:nvPr/>
        </p:nvSpPr>
        <p:spPr>
          <a:xfrm>
            <a:off x="2153412" y="274320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b="1"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분석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93" name="Google Shape;293;p18"/>
          <p:cNvCxnSpPr/>
          <p:nvPr/>
        </p:nvCxnSpPr>
        <p:spPr>
          <a:xfrm>
            <a:off x="4992624" y="26929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8"/>
          <p:cNvSpPr/>
          <p:nvPr/>
        </p:nvSpPr>
        <p:spPr>
          <a:xfrm>
            <a:off x="5024628" y="274320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95" name="Google Shape;295;p18"/>
          <p:cNvCxnSpPr/>
          <p:nvPr/>
        </p:nvCxnSpPr>
        <p:spPr>
          <a:xfrm>
            <a:off x="5632704" y="26929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8"/>
          <p:cNvSpPr/>
          <p:nvPr/>
        </p:nvSpPr>
        <p:spPr>
          <a:xfrm>
            <a:off x="5664708" y="274320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상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530352" y="289864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562356" y="294894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REQ-F-007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99" name="Google Shape;299;p18"/>
          <p:cNvCxnSpPr/>
          <p:nvPr/>
        </p:nvCxnSpPr>
        <p:spPr>
          <a:xfrm>
            <a:off x="1371600" y="28986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8"/>
          <p:cNvSpPr/>
          <p:nvPr/>
        </p:nvSpPr>
        <p:spPr>
          <a:xfrm>
            <a:off x="1403604" y="294894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Feed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01" name="Google Shape;301;p18"/>
          <p:cNvCxnSpPr/>
          <p:nvPr/>
        </p:nvCxnSpPr>
        <p:spPr>
          <a:xfrm>
            <a:off x="2121408" y="28986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18"/>
          <p:cNvSpPr/>
          <p:nvPr/>
        </p:nvSpPr>
        <p:spPr>
          <a:xfrm>
            <a:off x="2153412" y="294894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Feed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03" name="Google Shape;303;p18"/>
          <p:cNvCxnSpPr/>
          <p:nvPr/>
        </p:nvCxnSpPr>
        <p:spPr>
          <a:xfrm>
            <a:off x="4992624" y="28986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8"/>
          <p:cNvSpPr/>
          <p:nvPr/>
        </p:nvSpPr>
        <p:spPr>
          <a:xfrm>
            <a:off x="5024628" y="294894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05" name="Google Shape;305;p18"/>
          <p:cNvCxnSpPr/>
          <p:nvPr/>
        </p:nvCxnSpPr>
        <p:spPr>
          <a:xfrm>
            <a:off x="5632704" y="28986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8"/>
          <p:cNvSpPr/>
          <p:nvPr/>
        </p:nvSpPr>
        <p:spPr>
          <a:xfrm>
            <a:off x="5664708" y="294894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530352" y="310438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562356" y="315468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REQ-F-008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09" name="Google Shape;309;p18"/>
          <p:cNvCxnSpPr/>
          <p:nvPr/>
        </p:nvCxnSpPr>
        <p:spPr>
          <a:xfrm>
            <a:off x="1371600" y="310438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18"/>
          <p:cNvSpPr/>
          <p:nvPr/>
        </p:nvSpPr>
        <p:spPr>
          <a:xfrm>
            <a:off x="1403604" y="315468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Feed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11" name="Google Shape;311;p18"/>
          <p:cNvCxnSpPr/>
          <p:nvPr/>
        </p:nvCxnSpPr>
        <p:spPr>
          <a:xfrm>
            <a:off x="2121408" y="310438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8"/>
          <p:cNvSpPr/>
          <p:nvPr/>
        </p:nvSpPr>
        <p:spPr>
          <a:xfrm>
            <a:off x="2153412" y="315468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오늘 주요뉴스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13" name="Google Shape;313;p18"/>
          <p:cNvCxnSpPr/>
          <p:nvPr/>
        </p:nvCxnSpPr>
        <p:spPr>
          <a:xfrm>
            <a:off x="4992624" y="310438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8"/>
          <p:cNvSpPr/>
          <p:nvPr/>
        </p:nvSpPr>
        <p:spPr>
          <a:xfrm>
            <a:off x="5024628" y="315468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Medium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15" name="Google Shape;315;p18"/>
          <p:cNvCxnSpPr/>
          <p:nvPr/>
        </p:nvCxnSpPr>
        <p:spPr>
          <a:xfrm>
            <a:off x="5632704" y="310438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8"/>
          <p:cNvSpPr/>
          <p:nvPr/>
        </p:nvSpPr>
        <p:spPr>
          <a:xfrm>
            <a:off x="5664708" y="315468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530352" y="331012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562356" y="336042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REQ-F-009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19" name="Google Shape;319;p18"/>
          <p:cNvCxnSpPr/>
          <p:nvPr/>
        </p:nvCxnSpPr>
        <p:spPr>
          <a:xfrm>
            <a:off x="1371600" y="331012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18"/>
          <p:cNvSpPr/>
          <p:nvPr/>
        </p:nvSpPr>
        <p:spPr>
          <a:xfrm>
            <a:off x="1403604" y="336042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Feed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21" name="Google Shape;321;p18"/>
          <p:cNvCxnSpPr/>
          <p:nvPr/>
        </p:nvCxnSpPr>
        <p:spPr>
          <a:xfrm>
            <a:off x="2121408" y="331012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18"/>
          <p:cNvSpPr/>
          <p:nvPr/>
        </p:nvSpPr>
        <p:spPr>
          <a:xfrm>
            <a:off x="2153412" y="336042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카테고리 필터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23" name="Google Shape;323;p18"/>
          <p:cNvCxnSpPr/>
          <p:nvPr/>
        </p:nvCxnSpPr>
        <p:spPr>
          <a:xfrm>
            <a:off x="4992624" y="331012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8"/>
          <p:cNvSpPr/>
          <p:nvPr/>
        </p:nvSpPr>
        <p:spPr>
          <a:xfrm>
            <a:off x="5024628" y="336042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Medium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25" name="Google Shape;325;p18"/>
          <p:cNvCxnSpPr/>
          <p:nvPr/>
        </p:nvCxnSpPr>
        <p:spPr>
          <a:xfrm>
            <a:off x="5632704" y="331012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18"/>
          <p:cNvSpPr/>
          <p:nvPr/>
        </p:nvSpPr>
        <p:spPr>
          <a:xfrm>
            <a:off x="5664708" y="336042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530352" y="351586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562356" y="356616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REQ-F-010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29" name="Google Shape;329;p18"/>
          <p:cNvCxnSpPr/>
          <p:nvPr/>
        </p:nvCxnSpPr>
        <p:spPr>
          <a:xfrm>
            <a:off x="1371600" y="351586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8"/>
          <p:cNvSpPr/>
          <p:nvPr/>
        </p:nvSpPr>
        <p:spPr>
          <a:xfrm>
            <a:off x="1403604" y="356616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Feed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31" name="Google Shape;331;p18"/>
          <p:cNvCxnSpPr/>
          <p:nvPr/>
        </p:nvCxnSpPr>
        <p:spPr>
          <a:xfrm>
            <a:off x="2121408" y="351586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18"/>
          <p:cNvSpPr/>
          <p:nvPr/>
        </p:nvSpPr>
        <p:spPr>
          <a:xfrm>
            <a:off x="2153412" y="356616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Feed 정렬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33" name="Google Shape;333;p18"/>
          <p:cNvCxnSpPr/>
          <p:nvPr/>
        </p:nvCxnSpPr>
        <p:spPr>
          <a:xfrm>
            <a:off x="4992624" y="351586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8"/>
          <p:cNvSpPr/>
          <p:nvPr/>
        </p:nvSpPr>
        <p:spPr>
          <a:xfrm>
            <a:off x="5024628" y="356616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Medium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35" name="Google Shape;335;p18"/>
          <p:cNvCxnSpPr/>
          <p:nvPr/>
        </p:nvCxnSpPr>
        <p:spPr>
          <a:xfrm>
            <a:off x="5632704" y="351586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18"/>
          <p:cNvSpPr/>
          <p:nvPr/>
        </p:nvSpPr>
        <p:spPr>
          <a:xfrm>
            <a:off x="5664708" y="356616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530352" y="372160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562356" y="377190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REQ-F-011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39" name="Google Shape;339;p18"/>
          <p:cNvCxnSpPr/>
          <p:nvPr/>
        </p:nvCxnSpPr>
        <p:spPr>
          <a:xfrm>
            <a:off x="1371600" y="37216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18"/>
          <p:cNvSpPr/>
          <p:nvPr/>
        </p:nvSpPr>
        <p:spPr>
          <a:xfrm>
            <a:off x="1403604" y="377190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Feed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41" name="Google Shape;341;p18"/>
          <p:cNvCxnSpPr/>
          <p:nvPr/>
        </p:nvCxnSpPr>
        <p:spPr>
          <a:xfrm>
            <a:off x="2121408" y="37216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18"/>
          <p:cNvSpPr/>
          <p:nvPr/>
        </p:nvSpPr>
        <p:spPr>
          <a:xfrm>
            <a:off x="2153412" y="377190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시간 범위 선택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43" name="Google Shape;343;p18"/>
          <p:cNvCxnSpPr/>
          <p:nvPr/>
        </p:nvCxnSpPr>
        <p:spPr>
          <a:xfrm>
            <a:off x="4992624" y="37216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18"/>
          <p:cNvSpPr/>
          <p:nvPr/>
        </p:nvSpPr>
        <p:spPr>
          <a:xfrm>
            <a:off x="5024628" y="377190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Medium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45" name="Google Shape;345;p18"/>
          <p:cNvCxnSpPr/>
          <p:nvPr/>
        </p:nvCxnSpPr>
        <p:spPr>
          <a:xfrm>
            <a:off x="5632704" y="37216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8"/>
          <p:cNvSpPr/>
          <p:nvPr/>
        </p:nvSpPr>
        <p:spPr>
          <a:xfrm>
            <a:off x="5664708" y="377190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530352" y="392734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562356" y="397764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REQ-F-012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49" name="Google Shape;349;p18"/>
          <p:cNvCxnSpPr/>
          <p:nvPr/>
        </p:nvCxnSpPr>
        <p:spPr>
          <a:xfrm>
            <a:off x="1371600" y="39273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18"/>
          <p:cNvSpPr/>
          <p:nvPr/>
        </p:nvSpPr>
        <p:spPr>
          <a:xfrm>
            <a:off x="1403604" y="397764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Feed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51" name="Google Shape;351;p18"/>
          <p:cNvCxnSpPr/>
          <p:nvPr/>
        </p:nvCxnSpPr>
        <p:spPr>
          <a:xfrm>
            <a:off x="2121408" y="39273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18"/>
          <p:cNvSpPr/>
          <p:nvPr/>
        </p:nvSpPr>
        <p:spPr>
          <a:xfrm>
            <a:off x="2153412" y="397764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더보기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53" name="Google Shape;353;p18"/>
          <p:cNvCxnSpPr/>
          <p:nvPr/>
        </p:nvCxnSpPr>
        <p:spPr>
          <a:xfrm>
            <a:off x="4992624" y="39273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18"/>
          <p:cNvSpPr/>
          <p:nvPr/>
        </p:nvSpPr>
        <p:spPr>
          <a:xfrm>
            <a:off x="5024628" y="397764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Low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55" name="Google Shape;355;p18"/>
          <p:cNvCxnSpPr/>
          <p:nvPr/>
        </p:nvCxnSpPr>
        <p:spPr>
          <a:xfrm>
            <a:off x="5632704" y="39273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18"/>
          <p:cNvSpPr/>
          <p:nvPr/>
        </p:nvSpPr>
        <p:spPr>
          <a:xfrm>
            <a:off x="5664708" y="397764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하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530352" y="413308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562356" y="418338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REQ-F-013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59" name="Google Shape;359;p18"/>
          <p:cNvCxnSpPr/>
          <p:nvPr/>
        </p:nvCxnSpPr>
        <p:spPr>
          <a:xfrm>
            <a:off x="1371600" y="413308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18"/>
          <p:cNvSpPr/>
          <p:nvPr/>
        </p:nvSpPr>
        <p:spPr>
          <a:xfrm>
            <a:off x="1403604" y="418338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관심 게임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61" name="Google Shape;361;p18"/>
          <p:cNvCxnSpPr/>
          <p:nvPr/>
        </p:nvCxnSpPr>
        <p:spPr>
          <a:xfrm>
            <a:off x="2121408" y="413308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8"/>
          <p:cNvSpPr/>
          <p:nvPr/>
        </p:nvSpPr>
        <p:spPr>
          <a:xfrm>
            <a:off x="2153412" y="418338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관심 게임 관리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63" name="Google Shape;363;p18"/>
          <p:cNvCxnSpPr/>
          <p:nvPr/>
        </p:nvCxnSpPr>
        <p:spPr>
          <a:xfrm>
            <a:off x="4992624" y="413308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18"/>
          <p:cNvSpPr/>
          <p:nvPr/>
        </p:nvSpPr>
        <p:spPr>
          <a:xfrm>
            <a:off x="5024628" y="418338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65" name="Google Shape;365;p18"/>
          <p:cNvCxnSpPr/>
          <p:nvPr/>
        </p:nvCxnSpPr>
        <p:spPr>
          <a:xfrm>
            <a:off x="5632704" y="413308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18"/>
          <p:cNvSpPr/>
          <p:nvPr/>
        </p:nvSpPr>
        <p:spPr>
          <a:xfrm>
            <a:off x="5664708" y="418338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530352" y="433882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562356" y="438912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REQ-F-014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69" name="Google Shape;369;p18"/>
          <p:cNvCxnSpPr/>
          <p:nvPr/>
        </p:nvCxnSpPr>
        <p:spPr>
          <a:xfrm>
            <a:off x="1371600" y="433882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18"/>
          <p:cNvSpPr/>
          <p:nvPr/>
        </p:nvSpPr>
        <p:spPr>
          <a:xfrm>
            <a:off x="1403604" y="438912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b="1"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개인화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71" name="Google Shape;371;p18"/>
          <p:cNvCxnSpPr/>
          <p:nvPr/>
        </p:nvCxnSpPr>
        <p:spPr>
          <a:xfrm>
            <a:off x="2121408" y="433882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18"/>
          <p:cNvSpPr/>
          <p:nvPr/>
        </p:nvSpPr>
        <p:spPr>
          <a:xfrm>
            <a:off x="2153412" y="438912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b="1"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개인화 Feed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73" name="Google Shape;373;p18"/>
          <p:cNvCxnSpPr/>
          <p:nvPr/>
        </p:nvCxnSpPr>
        <p:spPr>
          <a:xfrm>
            <a:off x="4992624" y="433882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18"/>
          <p:cNvSpPr/>
          <p:nvPr/>
        </p:nvSpPr>
        <p:spPr>
          <a:xfrm>
            <a:off x="5024628" y="438912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75" name="Google Shape;375;p18"/>
          <p:cNvCxnSpPr/>
          <p:nvPr/>
        </p:nvCxnSpPr>
        <p:spPr>
          <a:xfrm>
            <a:off x="5632704" y="433882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18"/>
          <p:cNvSpPr/>
          <p:nvPr/>
        </p:nvSpPr>
        <p:spPr>
          <a:xfrm>
            <a:off x="5664708" y="438912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상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530352" y="454456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562356" y="459486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REQ-F-015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79" name="Google Shape;379;p18"/>
          <p:cNvCxnSpPr/>
          <p:nvPr/>
        </p:nvCxnSpPr>
        <p:spPr>
          <a:xfrm>
            <a:off x="1371600" y="454456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p18"/>
          <p:cNvSpPr/>
          <p:nvPr/>
        </p:nvSpPr>
        <p:spPr>
          <a:xfrm>
            <a:off x="1403604" y="459486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81" name="Google Shape;381;p18"/>
          <p:cNvCxnSpPr/>
          <p:nvPr/>
        </p:nvCxnSpPr>
        <p:spPr>
          <a:xfrm>
            <a:off x="2121408" y="454456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18"/>
          <p:cNvSpPr/>
          <p:nvPr/>
        </p:nvSpPr>
        <p:spPr>
          <a:xfrm>
            <a:off x="2153412" y="459486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상세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83" name="Google Shape;383;p18"/>
          <p:cNvCxnSpPr/>
          <p:nvPr/>
        </p:nvCxnSpPr>
        <p:spPr>
          <a:xfrm>
            <a:off x="4992624" y="454456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8"/>
          <p:cNvSpPr/>
          <p:nvPr/>
        </p:nvSpPr>
        <p:spPr>
          <a:xfrm>
            <a:off x="5024628" y="459486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High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85" name="Google Shape;385;p18"/>
          <p:cNvCxnSpPr/>
          <p:nvPr/>
        </p:nvCxnSpPr>
        <p:spPr>
          <a:xfrm>
            <a:off x="5632704" y="454456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18"/>
          <p:cNvSpPr/>
          <p:nvPr/>
        </p:nvSpPr>
        <p:spPr>
          <a:xfrm>
            <a:off x="5664708" y="459486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530352" y="475030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562356" y="480060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REQ-F-016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89" name="Google Shape;389;p18"/>
          <p:cNvCxnSpPr/>
          <p:nvPr/>
        </p:nvCxnSpPr>
        <p:spPr>
          <a:xfrm>
            <a:off x="1371600" y="47503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18"/>
          <p:cNvSpPr/>
          <p:nvPr/>
        </p:nvSpPr>
        <p:spPr>
          <a:xfrm>
            <a:off x="1403604" y="480060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상호작용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91" name="Google Shape;391;p18"/>
          <p:cNvCxnSpPr/>
          <p:nvPr/>
        </p:nvCxnSpPr>
        <p:spPr>
          <a:xfrm>
            <a:off x="2121408" y="47503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18"/>
          <p:cNvSpPr/>
          <p:nvPr/>
        </p:nvSpPr>
        <p:spPr>
          <a:xfrm>
            <a:off x="2153412" y="480060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좋아요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93" name="Google Shape;393;p18"/>
          <p:cNvCxnSpPr/>
          <p:nvPr/>
        </p:nvCxnSpPr>
        <p:spPr>
          <a:xfrm>
            <a:off x="4992624" y="47503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18"/>
          <p:cNvSpPr/>
          <p:nvPr/>
        </p:nvSpPr>
        <p:spPr>
          <a:xfrm>
            <a:off x="5024628" y="480060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Medium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95" name="Google Shape;395;p18"/>
          <p:cNvCxnSpPr/>
          <p:nvPr/>
        </p:nvCxnSpPr>
        <p:spPr>
          <a:xfrm>
            <a:off x="5632704" y="475030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18"/>
          <p:cNvSpPr/>
          <p:nvPr/>
        </p:nvSpPr>
        <p:spPr>
          <a:xfrm>
            <a:off x="5664708" y="480060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530352" y="4956048"/>
            <a:ext cx="5632704" cy="1965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562356" y="5006340"/>
            <a:ext cx="77724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REQ-F-017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99" name="Google Shape;399;p18"/>
          <p:cNvCxnSpPr/>
          <p:nvPr/>
        </p:nvCxnSpPr>
        <p:spPr>
          <a:xfrm>
            <a:off x="1371600" y="49560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8"/>
          <p:cNvSpPr/>
          <p:nvPr/>
        </p:nvSpPr>
        <p:spPr>
          <a:xfrm>
            <a:off x="1403604" y="5006340"/>
            <a:ext cx="68580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상호작용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01" name="Google Shape;401;p18"/>
          <p:cNvCxnSpPr/>
          <p:nvPr/>
        </p:nvCxnSpPr>
        <p:spPr>
          <a:xfrm>
            <a:off x="2121408" y="49560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18"/>
          <p:cNvSpPr/>
          <p:nvPr/>
        </p:nvSpPr>
        <p:spPr>
          <a:xfrm>
            <a:off x="2153412" y="5006340"/>
            <a:ext cx="2807208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댓글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03" name="Google Shape;403;p18"/>
          <p:cNvCxnSpPr/>
          <p:nvPr/>
        </p:nvCxnSpPr>
        <p:spPr>
          <a:xfrm>
            <a:off x="4992624" y="49560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18"/>
          <p:cNvSpPr/>
          <p:nvPr/>
        </p:nvSpPr>
        <p:spPr>
          <a:xfrm>
            <a:off x="5024628" y="5006340"/>
            <a:ext cx="576072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Medium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05" name="Google Shape;405;p18"/>
          <p:cNvCxnSpPr/>
          <p:nvPr/>
        </p:nvCxnSpPr>
        <p:spPr>
          <a:xfrm>
            <a:off x="5632704" y="4956048"/>
            <a:ext cx="0" cy="1965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18"/>
          <p:cNvSpPr/>
          <p:nvPr/>
        </p:nvSpPr>
        <p:spPr>
          <a:xfrm>
            <a:off x="5664708" y="5006340"/>
            <a:ext cx="466344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20"/>
              <a:buFont typeface="Noto Sans"/>
              <a:buNone/>
            </a:pPr>
            <a:r>
              <a:rPr lang="en-US" sz="6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sz="6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6629400" y="117043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1000"/>
              <a:buFont typeface="Noto Sans"/>
              <a:buNone/>
            </a:pPr>
            <a:r>
              <a:rPr b="1" lang="en-US" sz="10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비기능 요구사항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6629400" y="1417320"/>
            <a:ext cx="5212080" cy="274320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6675120" y="1504188"/>
            <a:ext cx="777240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80"/>
              <a:buFont typeface="Noto Sans"/>
              <a:buNone/>
            </a:pPr>
            <a:r>
              <a:rPr b="1" lang="en-US" sz="6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ID</a:t>
            </a:r>
            <a:endParaRPr sz="6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10" name="Google Shape;410;p18"/>
          <p:cNvCxnSpPr/>
          <p:nvPr/>
        </p:nvCxnSpPr>
        <p:spPr>
          <a:xfrm>
            <a:off x="7498080" y="1417320"/>
            <a:ext cx="0" cy="274320"/>
          </a:xfrm>
          <a:prstGeom prst="straightConnector1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18"/>
          <p:cNvSpPr/>
          <p:nvPr/>
        </p:nvSpPr>
        <p:spPr>
          <a:xfrm>
            <a:off x="7543800" y="1504188"/>
            <a:ext cx="685800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80"/>
              <a:buFont typeface="Noto Sans"/>
              <a:buNone/>
            </a:pPr>
            <a:r>
              <a:rPr b="1" lang="en-US" sz="6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분류</a:t>
            </a:r>
            <a:endParaRPr sz="6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12" name="Google Shape;412;p18"/>
          <p:cNvCxnSpPr/>
          <p:nvPr/>
        </p:nvCxnSpPr>
        <p:spPr>
          <a:xfrm>
            <a:off x="8275320" y="1417320"/>
            <a:ext cx="0" cy="274320"/>
          </a:xfrm>
          <a:prstGeom prst="straightConnector1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18"/>
          <p:cNvSpPr/>
          <p:nvPr/>
        </p:nvSpPr>
        <p:spPr>
          <a:xfrm>
            <a:off x="8321040" y="1504188"/>
            <a:ext cx="3474720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80"/>
              <a:buFont typeface="Noto Sans"/>
              <a:buNone/>
            </a:pPr>
            <a:r>
              <a:rPr b="1" lang="en-US" sz="6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요구사항</a:t>
            </a:r>
            <a:endParaRPr sz="6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6629400" y="1719072"/>
            <a:ext cx="521208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6675120" y="1810512"/>
            <a:ext cx="7772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70"/>
              <a:buFont typeface="Noto Sans"/>
              <a:buNone/>
            </a:pPr>
            <a:r>
              <a:rPr b="1" lang="en-US" sz="67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REQ-N-001</a:t>
            </a:r>
            <a:endParaRPr sz="6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16" name="Google Shape;416;p18"/>
          <p:cNvCxnSpPr/>
          <p:nvPr/>
        </p:nvCxnSpPr>
        <p:spPr>
          <a:xfrm>
            <a:off x="7498080" y="1719072"/>
            <a:ext cx="0" cy="3108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18"/>
          <p:cNvSpPr/>
          <p:nvPr/>
        </p:nvSpPr>
        <p:spPr>
          <a:xfrm>
            <a:off x="7543800" y="1810512"/>
            <a:ext cx="6858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70"/>
              <a:buFont typeface="Noto Sans"/>
              <a:buNone/>
            </a:pPr>
            <a:r>
              <a:rPr lang="en-US" sz="67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보안</a:t>
            </a:r>
            <a:endParaRPr sz="6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18" name="Google Shape;418;p18"/>
          <p:cNvCxnSpPr/>
          <p:nvPr/>
        </p:nvCxnSpPr>
        <p:spPr>
          <a:xfrm>
            <a:off x="8275320" y="1719072"/>
            <a:ext cx="0" cy="3108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18"/>
          <p:cNvSpPr/>
          <p:nvPr/>
        </p:nvSpPr>
        <p:spPr>
          <a:xfrm>
            <a:off x="8321040" y="1810512"/>
            <a:ext cx="34747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720"/>
              <a:buFont typeface="Noto Sans"/>
              <a:buNone/>
            </a:pPr>
            <a:r>
              <a:rPr lang="en-US" sz="7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JWT 기반으로 인증이 필요한 API 보호</a:t>
            </a:r>
            <a:endParaRPr sz="7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6629400" y="2103120"/>
            <a:ext cx="521208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6675120" y="2194560"/>
            <a:ext cx="7772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70"/>
              <a:buFont typeface="Noto Sans"/>
              <a:buNone/>
            </a:pPr>
            <a:r>
              <a:rPr b="1" lang="en-US" sz="67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REQ-N-002</a:t>
            </a:r>
            <a:endParaRPr sz="6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22" name="Google Shape;422;p18"/>
          <p:cNvCxnSpPr/>
          <p:nvPr/>
        </p:nvCxnSpPr>
        <p:spPr>
          <a:xfrm>
            <a:off x="7498080" y="2103120"/>
            <a:ext cx="0" cy="3108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18"/>
          <p:cNvSpPr/>
          <p:nvPr/>
        </p:nvSpPr>
        <p:spPr>
          <a:xfrm>
            <a:off x="7543800" y="2194560"/>
            <a:ext cx="6858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70"/>
              <a:buFont typeface="Noto Sans"/>
              <a:buNone/>
            </a:pPr>
            <a:r>
              <a:rPr lang="en-US" sz="67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인프라</a:t>
            </a:r>
            <a:endParaRPr sz="6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24" name="Google Shape;424;p18"/>
          <p:cNvCxnSpPr/>
          <p:nvPr/>
        </p:nvCxnSpPr>
        <p:spPr>
          <a:xfrm>
            <a:off x="8275320" y="2103120"/>
            <a:ext cx="0" cy="3108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18"/>
          <p:cNvSpPr/>
          <p:nvPr/>
        </p:nvSpPr>
        <p:spPr>
          <a:xfrm>
            <a:off x="8321040" y="2194560"/>
            <a:ext cx="34747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720"/>
              <a:buFont typeface="Noto Sans"/>
              <a:buNone/>
            </a:pPr>
            <a:r>
              <a:rPr lang="en-US" sz="7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Docker Compose로 전체 서비스 실행 환경 구성</a:t>
            </a:r>
            <a:endParaRPr sz="7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6629400" y="2487168"/>
            <a:ext cx="521208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6675120" y="2578608"/>
            <a:ext cx="7772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70"/>
              <a:buFont typeface="Noto Sans"/>
              <a:buNone/>
            </a:pPr>
            <a:r>
              <a:rPr b="1" lang="en-US" sz="67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REQ-N-003</a:t>
            </a:r>
            <a:endParaRPr sz="6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28" name="Google Shape;428;p18"/>
          <p:cNvCxnSpPr/>
          <p:nvPr/>
        </p:nvCxnSpPr>
        <p:spPr>
          <a:xfrm>
            <a:off x="7498080" y="2487168"/>
            <a:ext cx="0" cy="3108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18"/>
          <p:cNvSpPr/>
          <p:nvPr/>
        </p:nvSpPr>
        <p:spPr>
          <a:xfrm>
            <a:off x="7543800" y="2578608"/>
            <a:ext cx="6858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70"/>
              <a:buFont typeface="Noto Sans"/>
              <a:buNone/>
            </a:pPr>
            <a:r>
              <a:rPr lang="en-US" sz="67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구조</a:t>
            </a:r>
            <a:endParaRPr sz="6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30" name="Google Shape;430;p18"/>
          <p:cNvCxnSpPr/>
          <p:nvPr/>
        </p:nvCxnSpPr>
        <p:spPr>
          <a:xfrm>
            <a:off x="8275320" y="2487168"/>
            <a:ext cx="0" cy="3108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18"/>
          <p:cNvSpPr/>
          <p:nvPr/>
        </p:nvSpPr>
        <p:spPr>
          <a:xfrm>
            <a:off x="8321040" y="2578608"/>
            <a:ext cx="34747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720"/>
              <a:buFont typeface="Noto Sans"/>
              <a:buNone/>
            </a:pPr>
            <a:r>
              <a:rPr lang="en-US" sz="7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User, News, Interest, Collector, Insight 기능 분리</a:t>
            </a:r>
            <a:endParaRPr sz="7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6629400" y="2871216"/>
            <a:ext cx="521208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6675120" y="2962656"/>
            <a:ext cx="7772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70"/>
              <a:buFont typeface="Noto Sans"/>
              <a:buNone/>
            </a:pPr>
            <a:r>
              <a:rPr b="1" lang="en-US" sz="67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REQ-N-004</a:t>
            </a:r>
            <a:endParaRPr sz="6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34" name="Google Shape;434;p18"/>
          <p:cNvCxnSpPr/>
          <p:nvPr/>
        </p:nvCxnSpPr>
        <p:spPr>
          <a:xfrm>
            <a:off x="7498080" y="2871216"/>
            <a:ext cx="0" cy="3108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" name="Google Shape;435;p18"/>
          <p:cNvSpPr/>
          <p:nvPr/>
        </p:nvSpPr>
        <p:spPr>
          <a:xfrm>
            <a:off x="7543800" y="2962656"/>
            <a:ext cx="6858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670"/>
              <a:buFont typeface="Noto Sans"/>
              <a:buNone/>
            </a:pPr>
            <a:r>
              <a:rPr lang="en-US" sz="67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처리</a:t>
            </a:r>
            <a:endParaRPr sz="6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36" name="Google Shape;436;p18"/>
          <p:cNvCxnSpPr/>
          <p:nvPr/>
        </p:nvCxnSpPr>
        <p:spPr>
          <a:xfrm>
            <a:off x="8275320" y="2871216"/>
            <a:ext cx="0" cy="310896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" name="Google Shape;437;p18"/>
          <p:cNvSpPr/>
          <p:nvPr/>
        </p:nvSpPr>
        <p:spPr>
          <a:xfrm>
            <a:off x="8321040" y="2962656"/>
            <a:ext cx="34747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720"/>
              <a:buFont typeface="Noto Sans"/>
              <a:buNone/>
            </a:pPr>
            <a:r>
              <a:rPr lang="en-US" sz="72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Kafka 이벤트로 AI 분석 요청을 비동기 처리</a:t>
            </a:r>
            <a:endParaRPr sz="7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6629400" y="3584448"/>
            <a:ext cx="5212080" cy="1298448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6903720" y="3803904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5B8A"/>
              </a:buClr>
              <a:buSzPts val="950"/>
              <a:buFont typeface="Noto Sans"/>
              <a:buNone/>
            </a:pPr>
            <a:r>
              <a:rPr b="1" lang="en-US" sz="9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범위 산정 기준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6903720" y="4096512"/>
            <a:ext cx="3017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1100"/>
              <a:buFont typeface="Noto Sans"/>
              <a:buNone/>
            </a:pPr>
            <a:r>
              <a:rPr b="1" lang="en-US" sz="11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핵심 가치와 직접 연결되는가?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6903720" y="4425696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80"/>
              <a:buFont typeface="Noto Sans"/>
              <a:buNone/>
            </a:pPr>
            <a:r>
              <a:rPr lang="en-US" sz="98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YES: 구현 범위  /  NO: 후속 범위</a:t>
            </a:r>
            <a:endParaRPr sz="9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6629400" y="5157216"/>
            <a:ext cx="5212080" cy="1024128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6903720" y="5376672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430"/>
              </a:buClr>
              <a:buSzPts val="939"/>
              <a:buFont typeface="Noto Sans"/>
              <a:buNone/>
            </a:pPr>
            <a:r>
              <a:rPr b="1" lang="en-US" sz="94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화면 없이 동작하는 핵심 요구사항</a:t>
            </a:r>
            <a:endParaRPr sz="9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6903720" y="568756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39"/>
              <a:buFont typeface="Noto Sans"/>
              <a:buNone/>
            </a:pPr>
            <a:r>
              <a:rPr lang="en-US" sz="84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뉴스 수집 · URL 중복 방지 · AI 기사 분석 · 동일 사건 Topic 통합 · Topic 분석</a:t>
            </a:r>
            <a:endParaRPr sz="8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"/>
          <p:cNvSpPr txBox="1"/>
          <p:nvPr/>
        </p:nvSpPr>
        <p:spPr>
          <a:xfrm>
            <a:off x="868680" y="228600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시스템 아키텍처 설계</a:t>
            </a:r>
            <a:endParaRPr/>
          </a:p>
        </p:txBody>
      </p:sp>
      <p:sp>
        <p:nvSpPr>
          <p:cNvPr id="451" name="Google Shape;451;p19"/>
          <p:cNvSpPr txBox="1"/>
          <p:nvPr/>
        </p:nvSpPr>
        <p:spPr>
          <a:xfrm>
            <a:off x="868680" y="71323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역할별 서비스 분리와 REST · Kafka 통신 구조</a:t>
            </a:r>
            <a:endParaRPr/>
          </a:p>
        </p:txBody>
      </p:sp>
      <p:sp>
        <p:nvSpPr>
          <p:cNvPr id="452" name="Google Shape;452;p19"/>
          <p:cNvSpPr txBox="1"/>
          <p:nvPr/>
        </p:nvSpPr>
        <p:spPr>
          <a:xfrm>
            <a:off x="868680" y="11704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사용자 요청 구조</a:t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4407408" y="1344168"/>
            <a:ext cx="1874519" cy="5760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4" name="Google Shape;454;p19"/>
          <p:cNvSpPr txBox="1"/>
          <p:nvPr/>
        </p:nvSpPr>
        <p:spPr>
          <a:xfrm>
            <a:off x="4480560" y="1435608"/>
            <a:ext cx="17282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Vue Frontend</a:t>
            </a:r>
            <a:endParaRPr/>
          </a:p>
        </p:txBody>
      </p:sp>
      <p:sp>
        <p:nvSpPr>
          <p:cNvPr id="455" name="Google Shape;455;p19"/>
          <p:cNvSpPr txBox="1"/>
          <p:nvPr/>
        </p:nvSpPr>
        <p:spPr>
          <a:xfrm>
            <a:off x="4480560" y="1700784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사용자 화면</a:t>
            </a:r>
            <a:endParaRPr/>
          </a:p>
        </p:txBody>
      </p:sp>
      <p:cxnSp>
        <p:nvCxnSpPr>
          <p:cNvPr id="456" name="Google Shape;456;p19"/>
          <p:cNvCxnSpPr/>
          <p:nvPr/>
        </p:nvCxnSpPr>
        <p:spPr>
          <a:xfrm>
            <a:off x="5344668" y="1920240"/>
            <a:ext cx="0" cy="219456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57" name="Google Shape;457;p19"/>
          <p:cNvSpPr/>
          <p:nvPr/>
        </p:nvSpPr>
        <p:spPr>
          <a:xfrm rot="-2700000">
            <a:off x="5303522" y="2098542"/>
            <a:ext cx="82307" cy="82307"/>
          </a:xfrm>
          <a:prstGeom prst="rtTriangle">
            <a:avLst/>
          </a:prstGeom>
          <a:solidFill>
            <a:srgbClr val="5F6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4407408" y="2176272"/>
            <a:ext cx="1874519" cy="5760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9" name="Google Shape;459;p19"/>
          <p:cNvSpPr txBox="1"/>
          <p:nvPr/>
        </p:nvSpPr>
        <p:spPr>
          <a:xfrm>
            <a:off x="4480560" y="2267712"/>
            <a:ext cx="17282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API Gateway</a:t>
            </a:r>
            <a:endParaRPr/>
          </a:p>
        </p:txBody>
      </p:sp>
      <p:sp>
        <p:nvSpPr>
          <p:cNvPr id="460" name="Google Shape;460;p19"/>
          <p:cNvSpPr txBox="1"/>
          <p:nvPr/>
        </p:nvSpPr>
        <p:spPr>
          <a:xfrm>
            <a:off x="4480560" y="2532888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외부 요청 단일 진입점</a:t>
            </a:r>
            <a:endParaRPr/>
          </a:p>
        </p:txBody>
      </p:sp>
      <p:cxnSp>
        <p:nvCxnSpPr>
          <p:cNvPr id="461" name="Google Shape;461;p19"/>
          <p:cNvCxnSpPr/>
          <p:nvPr/>
        </p:nvCxnSpPr>
        <p:spPr>
          <a:xfrm>
            <a:off x="5344668" y="2752344"/>
            <a:ext cx="0" cy="210312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62" name="Google Shape;462;p19"/>
          <p:cNvCxnSpPr/>
          <p:nvPr/>
        </p:nvCxnSpPr>
        <p:spPr>
          <a:xfrm>
            <a:off x="2331720" y="2962656"/>
            <a:ext cx="6025896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63" name="Google Shape;463;p19"/>
          <p:cNvCxnSpPr/>
          <p:nvPr/>
        </p:nvCxnSpPr>
        <p:spPr>
          <a:xfrm>
            <a:off x="2331720" y="2962656"/>
            <a:ext cx="0" cy="219456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64" name="Google Shape;464;p19"/>
          <p:cNvSpPr/>
          <p:nvPr/>
        </p:nvSpPr>
        <p:spPr>
          <a:xfrm rot="-2700000">
            <a:off x="2292839" y="3143262"/>
            <a:ext cx="77640" cy="77640"/>
          </a:xfrm>
          <a:prstGeom prst="rtTriangle">
            <a:avLst/>
          </a:prstGeom>
          <a:solidFill>
            <a:srgbClr val="5F6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65" name="Google Shape;465;p19"/>
          <p:cNvCxnSpPr/>
          <p:nvPr/>
        </p:nvCxnSpPr>
        <p:spPr>
          <a:xfrm>
            <a:off x="5344668" y="2962656"/>
            <a:ext cx="0" cy="219456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66" name="Google Shape;466;p19"/>
          <p:cNvSpPr/>
          <p:nvPr/>
        </p:nvSpPr>
        <p:spPr>
          <a:xfrm rot="-2700000">
            <a:off x="5305785" y="3143293"/>
            <a:ext cx="77640" cy="77640"/>
          </a:xfrm>
          <a:prstGeom prst="rtTriangle">
            <a:avLst/>
          </a:prstGeom>
          <a:solidFill>
            <a:srgbClr val="5F6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67" name="Google Shape;467;p19"/>
          <p:cNvCxnSpPr/>
          <p:nvPr/>
        </p:nvCxnSpPr>
        <p:spPr>
          <a:xfrm>
            <a:off x="8357616" y="2962656"/>
            <a:ext cx="0" cy="219456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68" name="Google Shape;468;p19"/>
          <p:cNvSpPr/>
          <p:nvPr/>
        </p:nvSpPr>
        <p:spPr>
          <a:xfrm rot="-2700000">
            <a:off x="8318743" y="3143250"/>
            <a:ext cx="77640" cy="77640"/>
          </a:xfrm>
          <a:prstGeom prst="rtTriangle">
            <a:avLst/>
          </a:prstGeom>
          <a:solidFill>
            <a:srgbClr val="5F6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1444752" y="3218688"/>
            <a:ext cx="1783080" cy="6400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0" name="Google Shape;470;p19"/>
          <p:cNvSpPr txBox="1"/>
          <p:nvPr/>
        </p:nvSpPr>
        <p:spPr>
          <a:xfrm>
            <a:off x="1508779" y="3296416"/>
            <a:ext cx="1636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User Service</a:t>
            </a:r>
            <a:endParaRPr b="1" sz="1150">
              <a:solidFill>
                <a:srgbClr val="1C243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1C243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1" name="Google Shape;471;p19"/>
          <p:cNvSpPr txBox="1"/>
          <p:nvPr/>
        </p:nvSpPr>
        <p:spPr>
          <a:xfrm>
            <a:off x="1517904" y="3575304"/>
            <a:ext cx="1636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사용자 관리</a:t>
            </a:r>
            <a:endParaRPr/>
          </a:p>
        </p:txBody>
      </p:sp>
      <p:sp>
        <p:nvSpPr>
          <p:cNvPr id="472" name="Google Shape;472;p19"/>
          <p:cNvSpPr/>
          <p:nvPr/>
        </p:nvSpPr>
        <p:spPr>
          <a:xfrm>
            <a:off x="4434840" y="3218688"/>
            <a:ext cx="1819656" cy="640080"/>
          </a:xfrm>
          <a:prstGeom prst="rect">
            <a:avLst/>
          </a:prstGeom>
          <a:solidFill>
            <a:srgbClr val="EEF4FB"/>
          </a:solidFill>
          <a:ln cap="flat" cmpd="sng" w="1905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3" name="Google Shape;473;p19"/>
          <p:cNvSpPr txBox="1"/>
          <p:nvPr/>
        </p:nvSpPr>
        <p:spPr>
          <a:xfrm>
            <a:off x="4507992" y="3310128"/>
            <a:ext cx="167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News Service</a:t>
            </a:r>
            <a:endParaRPr b="1" sz="1300">
              <a:solidFill>
                <a:srgbClr val="315B8A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315B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4" name="Google Shape;474;p19"/>
          <p:cNvSpPr txBox="1"/>
          <p:nvPr/>
        </p:nvSpPr>
        <p:spPr>
          <a:xfrm>
            <a:off x="4507992" y="3575304"/>
            <a:ext cx="1673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콘텐츠</a:t>
            </a:r>
            <a:r>
              <a:rPr b="0" lang="en-US" sz="8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 · Topic 관리</a:t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7470648" y="3218688"/>
            <a:ext cx="1783080" cy="6400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dk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7543800" y="3310128"/>
            <a:ext cx="1636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Interest Service</a:t>
            </a:r>
            <a:endParaRPr b="1" sz="1150">
              <a:solidFill>
                <a:srgbClr val="1C243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1C243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7" name="Google Shape;477;p19"/>
          <p:cNvSpPr txBox="1"/>
          <p:nvPr/>
        </p:nvSpPr>
        <p:spPr>
          <a:xfrm>
            <a:off x="7543800" y="3575304"/>
            <a:ext cx="1636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관심 게임 관리</a:t>
            </a:r>
            <a:endParaRPr/>
          </a:p>
        </p:txBody>
      </p:sp>
      <p:sp>
        <p:nvSpPr>
          <p:cNvPr id="478" name="Google Shape;478;p19"/>
          <p:cNvSpPr txBox="1"/>
          <p:nvPr/>
        </p:nvSpPr>
        <p:spPr>
          <a:xfrm>
            <a:off x="6355080" y="283464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REST</a:t>
            </a:r>
            <a:endParaRPr/>
          </a:p>
        </p:txBody>
      </p:sp>
      <p:sp>
        <p:nvSpPr>
          <p:cNvPr id="479" name="Google Shape;479;p19"/>
          <p:cNvSpPr txBox="1"/>
          <p:nvPr/>
        </p:nvSpPr>
        <p:spPr>
          <a:xfrm>
            <a:off x="868680" y="409651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콘텐츠 처리</a:t>
            </a:r>
            <a:endParaRPr/>
          </a:p>
        </p:txBody>
      </p:sp>
      <p:sp>
        <p:nvSpPr>
          <p:cNvPr id="480" name="Google Shape;480;p19"/>
          <p:cNvSpPr/>
          <p:nvPr/>
        </p:nvSpPr>
        <p:spPr>
          <a:xfrm>
            <a:off x="865493" y="4398275"/>
            <a:ext cx="10460700" cy="1371600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1078992" y="4599432"/>
            <a:ext cx="141732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2" name="Google Shape;482;p19"/>
          <p:cNvSpPr txBox="1"/>
          <p:nvPr/>
        </p:nvSpPr>
        <p:spPr>
          <a:xfrm>
            <a:off x="1152144" y="4690872"/>
            <a:ext cx="1271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외부 뉴스</a:t>
            </a:r>
            <a:endParaRPr/>
          </a:p>
        </p:txBody>
      </p:sp>
      <p:sp>
        <p:nvSpPr>
          <p:cNvPr id="483" name="Google Shape;483;p19"/>
          <p:cNvSpPr txBox="1"/>
          <p:nvPr/>
        </p:nvSpPr>
        <p:spPr>
          <a:xfrm>
            <a:off x="1152144" y="4956048"/>
            <a:ext cx="12710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매체 · 공식 채널</a:t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2880360" y="4599432"/>
            <a:ext cx="1572768" cy="65836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5" name="Google Shape;485;p19"/>
          <p:cNvSpPr txBox="1"/>
          <p:nvPr/>
        </p:nvSpPr>
        <p:spPr>
          <a:xfrm>
            <a:off x="2953512" y="469087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Collector</a:t>
            </a:r>
            <a:endParaRPr/>
          </a:p>
        </p:txBody>
      </p:sp>
      <p:sp>
        <p:nvSpPr>
          <p:cNvPr id="486" name="Google Shape;486;p19"/>
          <p:cNvSpPr txBox="1"/>
          <p:nvPr/>
        </p:nvSpPr>
        <p:spPr>
          <a:xfrm>
            <a:off x="2953512" y="4956048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뉴스 수집</a:t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6903658" y="4706532"/>
            <a:ext cx="1572900" cy="658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8" name="Google Shape;488;p19"/>
          <p:cNvSpPr txBox="1"/>
          <p:nvPr/>
        </p:nvSpPr>
        <p:spPr>
          <a:xfrm>
            <a:off x="6977972" y="4789497"/>
            <a:ext cx="142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Insight Service</a:t>
            </a:r>
            <a:endParaRPr b="1" sz="1150">
              <a:solidFill>
                <a:srgbClr val="1C243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1C243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9" name="Google Shape;489;p19"/>
          <p:cNvSpPr txBox="1"/>
          <p:nvPr/>
        </p:nvSpPr>
        <p:spPr>
          <a:xfrm>
            <a:off x="6976847" y="5026398"/>
            <a:ext cx="1426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AI 분석</a:t>
            </a:r>
            <a:endParaRPr/>
          </a:p>
        </p:txBody>
      </p:sp>
      <p:cxnSp>
        <p:nvCxnSpPr>
          <p:cNvPr id="490" name="Google Shape;490;p19"/>
          <p:cNvCxnSpPr/>
          <p:nvPr/>
        </p:nvCxnSpPr>
        <p:spPr>
          <a:xfrm>
            <a:off x="2432212" y="4928579"/>
            <a:ext cx="384000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91" name="Google Shape;491;p19"/>
          <p:cNvSpPr/>
          <p:nvPr/>
        </p:nvSpPr>
        <p:spPr>
          <a:xfrm rot="-8100000">
            <a:off x="2777585" y="4889794"/>
            <a:ext cx="77640" cy="77640"/>
          </a:xfrm>
          <a:prstGeom prst="rtTriangle">
            <a:avLst/>
          </a:prstGeom>
          <a:solidFill>
            <a:srgbClr val="5F6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92" name="Google Shape;492;p19"/>
          <p:cNvCxnSpPr/>
          <p:nvPr/>
        </p:nvCxnSpPr>
        <p:spPr>
          <a:xfrm rot="10800000">
            <a:off x="3666744" y="4151376"/>
            <a:ext cx="0" cy="448056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93" name="Google Shape;493;p19"/>
          <p:cNvCxnSpPr/>
          <p:nvPr/>
        </p:nvCxnSpPr>
        <p:spPr>
          <a:xfrm>
            <a:off x="3666744" y="4151376"/>
            <a:ext cx="1234440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94" name="Google Shape;494;p19"/>
          <p:cNvCxnSpPr/>
          <p:nvPr/>
        </p:nvCxnSpPr>
        <p:spPr>
          <a:xfrm rot="10800000">
            <a:off x="4901025" y="3926325"/>
            <a:ext cx="13200" cy="24030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95" name="Google Shape;495;p19"/>
          <p:cNvSpPr/>
          <p:nvPr/>
        </p:nvSpPr>
        <p:spPr>
          <a:xfrm rot="8100000">
            <a:off x="4862361" y="3887259"/>
            <a:ext cx="77640" cy="77640"/>
          </a:xfrm>
          <a:prstGeom prst="rtTriangle">
            <a:avLst/>
          </a:prstGeom>
          <a:solidFill>
            <a:srgbClr val="5F6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6" name="Google Shape;496;p19"/>
          <p:cNvSpPr txBox="1"/>
          <p:nvPr/>
        </p:nvSpPr>
        <p:spPr>
          <a:xfrm>
            <a:off x="3749039" y="395935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9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REST · 기사 저장</a:t>
            </a:r>
            <a:endParaRPr/>
          </a:p>
        </p:txBody>
      </p:sp>
      <p:cxnSp>
        <p:nvCxnSpPr>
          <p:cNvPr id="497" name="Google Shape;497;p19"/>
          <p:cNvCxnSpPr/>
          <p:nvPr/>
        </p:nvCxnSpPr>
        <p:spPr>
          <a:xfrm>
            <a:off x="5797296" y="3858768"/>
            <a:ext cx="0" cy="576072"/>
          </a:xfrm>
          <a:prstGeom prst="straightConnector1">
            <a:avLst/>
          </a:prstGeom>
          <a:noFill/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98" name="Google Shape;498;p19"/>
          <p:cNvCxnSpPr/>
          <p:nvPr/>
        </p:nvCxnSpPr>
        <p:spPr>
          <a:xfrm>
            <a:off x="5797296" y="4437290"/>
            <a:ext cx="14100" cy="636300"/>
          </a:xfrm>
          <a:prstGeom prst="straightConnector1">
            <a:avLst/>
          </a:prstGeom>
          <a:noFill/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99" name="Google Shape;499;p19"/>
          <p:cNvSpPr txBox="1"/>
          <p:nvPr/>
        </p:nvSpPr>
        <p:spPr>
          <a:xfrm>
            <a:off x="5074920" y="422452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Kafka · news.created</a:t>
            </a:r>
            <a:endParaRPr/>
          </a:p>
        </p:txBody>
      </p:sp>
      <p:cxnSp>
        <p:nvCxnSpPr>
          <p:cNvPr id="500" name="Google Shape;500;p19"/>
          <p:cNvCxnSpPr>
            <a:endCxn id="501" idx="2"/>
          </p:cNvCxnSpPr>
          <p:nvPr/>
        </p:nvCxnSpPr>
        <p:spPr>
          <a:xfrm flipH="1" rot="10800000">
            <a:off x="5801469" y="5038837"/>
            <a:ext cx="1098300" cy="15000"/>
          </a:xfrm>
          <a:prstGeom prst="straightConnector1">
            <a:avLst/>
          </a:prstGeom>
          <a:noFill/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01" name="Google Shape;501;p19"/>
          <p:cNvSpPr/>
          <p:nvPr/>
        </p:nvSpPr>
        <p:spPr>
          <a:xfrm flipH="1" rot="-3034449">
            <a:off x="6725274" y="4988491"/>
            <a:ext cx="150690" cy="132790"/>
          </a:xfrm>
          <a:prstGeom prst="rtTriangle">
            <a:avLst/>
          </a:prstGeom>
          <a:solidFill>
            <a:srgbClr val="315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02" name="Google Shape;502;p19"/>
          <p:cNvCxnSpPr/>
          <p:nvPr/>
        </p:nvCxnSpPr>
        <p:spPr>
          <a:xfrm>
            <a:off x="8482800" y="4924200"/>
            <a:ext cx="1764300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3" name="Google Shape;503;p19"/>
          <p:cNvCxnSpPr/>
          <p:nvPr/>
        </p:nvCxnSpPr>
        <p:spPr>
          <a:xfrm rot="10800000">
            <a:off x="10250431" y="4081391"/>
            <a:ext cx="0" cy="88710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4" name="Google Shape;504;p19"/>
          <p:cNvCxnSpPr/>
          <p:nvPr/>
        </p:nvCxnSpPr>
        <p:spPr>
          <a:xfrm rot="10800000">
            <a:off x="5988406" y="4081523"/>
            <a:ext cx="4279500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5" name="Google Shape;505;p19"/>
          <p:cNvCxnSpPr/>
          <p:nvPr/>
        </p:nvCxnSpPr>
        <p:spPr>
          <a:xfrm rot="10800000">
            <a:off x="5988514" y="3918111"/>
            <a:ext cx="0" cy="18300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06" name="Google Shape;506;p19"/>
          <p:cNvSpPr/>
          <p:nvPr/>
        </p:nvSpPr>
        <p:spPr>
          <a:xfrm rot="8100000">
            <a:off x="5949752" y="3879409"/>
            <a:ext cx="77640" cy="77640"/>
          </a:xfrm>
          <a:prstGeom prst="rtTriangle">
            <a:avLst/>
          </a:prstGeom>
          <a:solidFill>
            <a:srgbClr val="5F6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7" name="Google Shape;507;p19"/>
          <p:cNvSpPr txBox="1"/>
          <p:nvPr/>
        </p:nvSpPr>
        <p:spPr>
          <a:xfrm>
            <a:off x="7758320" y="3982730"/>
            <a:ext cx="1691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9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REST · 분석 결과 반영</a:t>
            </a:r>
            <a:endParaRPr/>
          </a:p>
        </p:txBody>
      </p:sp>
      <p:sp>
        <p:nvSpPr>
          <p:cNvPr id="508" name="Google Shape;508;p19"/>
          <p:cNvSpPr txBox="1"/>
          <p:nvPr/>
        </p:nvSpPr>
        <p:spPr>
          <a:xfrm>
            <a:off x="868680" y="587044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공통 인프라</a:t>
            </a:r>
            <a:endParaRPr/>
          </a:p>
        </p:txBody>
      </p:sp>
      <p:sp>
        <p:nvSpPr>
          <p:cNvPr id="509" name="Google Shape;509;p19"/>
          <p:cNvSpPr txBox="1"/>
          <p:nvPr/>
        </p:nvSpPr>
        <p:spPr>
          <a:xfrm>
            <a:off x="1874519" y="5870448"/>
            <a:ext cx="7223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Auth Server · Eureka · MariaDB · Docker Compose</a:t>
            </a:r>
            <a:endParaRPr/>
          </a:p>
        </p:txBody>
      </p:sp>
      <p:sp>
        <p:nvSpPr>
          <p:cNvPr id="510" name="Google Shape;510;p19"/>
          <p:cNvSpPr txBox="1"/>
          <p:nvPr/>
        </p:nvSpPr>
        <p:spPr>
          <a:xfrm>
            <a:off x="9006840" y="5870448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REST = 동기 호출   Kafka = 비동기 이벤트</a:t>
            </a:r>
            <a:endParaRPr/>
          </a:p>
        </p:txBody>
      </p:sp>
      <p:sp>
        <p:nvSpPr>
          <p:cNvPr id="511" name="Google Shape;511;p19"/>
          <p:cNvSpPr/>
          <p:nvPr/>
        </p:nvSpPr>
        <p:spPr>
          <a:xfrm>
            <a:off x="8686800" y="1078992"/>
            <a:ext cx="2468880" cy="1325880"/>
          </a:xfrm>
          <a:prstGeom prst="rect">
            <a:avLst/>
          </a:prstGeom>
          <a:solidFill>
            <a:srgbClr val="F3F6FA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2" name="Google Shape;512;p19"/>
          <p:cNvSpPr txBox="1"/>
          <p:nvPr/>
        </p:nvSpPr>
        <p:spPr>
          <a:xfrm>
            <a:off x="8851392" y="1225296"/>
            <a:ext cx="21396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서비스 책임 분리</a:t>
            </a:r>
            <a:endParaRPr/>
          </a:p>
        </p:txBody>
      </p:sp>
      <p:sp>
        <p:nvSpPr>
          <p:cNvPr id="513" name="Google Shape;513;p19"/>
          <p:cNvSpPr txBox="1"/>
          <p:nvPr/>
        </p:nvSpPr>
        <p:spPr>
          <a:xfrm>
            <a:off x="8887968" y="1517904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User</a:t>
            </a:r>
            <a:endParaRPr/>
          </a:p>
        </p:txBody>
      </p:sp>
      <p:sp>
        <p:nvSpPr>
          <p:cNvPr id="514" name="Google Shape;514;p19"/>
          <p:cNvSpPr txBox="1"/>
          <p:nvPr/>
        </p:nvSpPr>
        <p:spPr>
          <a:xfrm>
            <a:off x="9601200" y="1517904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사용자 관리</a:t>
            </a:r>
            <a:endParaRPr/>
          </a:p>
        </p:txBody>
      </p:sp>
      <p:sp>
        <p:nvSpPr>
          <p:cNvPr id="515" name="Google Shape;515;p19"/>
          <p:cNvSpPr txBox="1"/>
          <p:nvPr/>
        </p:nvSpPr>
        <p:spPr>
          <a:xfrm>
            <a:off x="8887968" y="1691639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News</a:t>
            </a:r>
            <a:endParaRPr/>
          </a:p>
        </p:txBody>
      </p:sp>
      <p:sp>
        <p:nvSpPr>
          <p:cNvPr id="516" name="Google Shape;516;p19"/>
          <p:cNvSpPr txBox="1"/>
          <p:nvPr/>
        </p:nvSpPr>
        <p:spPr>
          <a:xfrm>
            <a:off x="9601200" y="1691639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콘텐츠 · Topic 관리</a:t>
            </a:r>
            <a:endParaRPr/>
          </a:p>
        </p:txBody>
      </p:sp>
      <p:sp>
        <p:nvSpPr>
          <p:cNvPr id="517" name="Google Shape;517;p19"/>
          <p:cNvSpPr txBox="1"/>
          <p:nvPr/>
        </p:nvSpPr>
        <p:spPr>
          <a:xfrm>
            <a:off x="8887968" y="1865376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Interest</a:t>
            </a:r>
            <a:endParaRPr/>
          </a:p>
        </p:txBody>
      </p:sp>
      <p:sp>
        <p:nvSpPr>
          <p:cNvPr id="518" name="Google Shape;518;p19"/>
          <p:cNvSpPr txBox="1"/>
          <p:nvPr/>
        </p:nvSpPr>
        <p:spPr>
          <a:xfrm>
            <a:off x="9601200" y="18653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관심 게임 관리</a:t>
            </a:r>
            <a:endParaRPr/>
          </a:p>
        </p:txBody>
      </p:sp>
      <p:sp>
        <p:nvSpPr>
          <p:cNvPr id="519" name="Google Shape;519;p19"/>
          <p:cNvSpPr txBox="1"/>
          <p:nvPr/>
        </p:nvSpPr>
        <p:spPr>
          <a:xfrm>
            <a:off x="8887968" y="2039112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Collector</a:t>
            </a:r>
            <a:endParaRPr/>
          </a:p>
        </p:txBody>
      </p:sp>
      <p:sp>
        <p:nvSpPr>
          <p:cNvPr id="520" name="Google Shape;520;p19"/>
          <p:cNvSpPr txBox="1"/>
          <p:nvPr/>
        </p:nvSpPr>
        <p:spPr>
          <a:xfrm>
            <a:off x="9601200" y="20391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뉴스 수집</a:t>
            </a:r>
            <a:endParaRPr/>
          </a:p>
        </p:txBody>
      </p:sp>
      <p:sp>
        <p:nvSpPr>
          <p:cNvPr id="521" name="Google Shape;521;p19"/>
          <p:cNvSpPr txBox="1"/>
          <p:nvPr/>
        </p:nvSpPr>
        <p:spPr>
          <a:xfrm>
            <a:off x="8887968" y="2212848"/>
            <a:ext cx="6583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Insight</a:t>
            </a:r>
            <a:endParaRPr/>
          </a:p>
        </p:txBody>
      </p:sp>
      <p:sp>
        <p:nvSpPr>
          <p:cNvPr id="522" name="Google Shape;522;p19"/>
          <p:cNvSpPr txBox="1"/>
          <p:nvPr/>
        </p:nvSpPr>
        <p:spPr>
          <a:xfrm>
            <a:off x="9601200" y="22128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AI 분석</a:t>
            </a:r>
            <a:endParaRPr/>
          </a:p>
        </p:txBody>
      </p:sp>
      <p:sp>
        <p:nvSpPr>
          <p:cNvPr id="523" name="Google Shape;523;p19"/>
          <p:cNvSpPr/>
          <p:nvPr/>
        </p:nvSpPr>
        <p:spPr>
          <a:xfrm>
            <a:off x="502920" y="292608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b="0"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0</a:t>
            </a:r>
            <a:r>
              <a:rPr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0"/>
          <p:cNvSpPr txBox="1"/>
          <p:nvPr/>
        </p:nvSpPr>
        <p:spPr>
          <a:xfrm>
            <a:off x="868680" y="228600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AI Intelligence 처리 흐름</a:t>
            </a:r>
            <a:endParaRPr/>
          </a:p>
        </p:txBody>
      </p:sp>
      <p:sp>
        <p:nvSpPr>
          <p:cNvPr id="529" name="Google Shape;529;p20"/>
          <p:cNvSpPr txBox="1"/>
          <p:nvPr/>
        </p:nvSpPr>
        <p:spPr>
          <a:xfrm>
            <a:off x="868680" y="71323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새 NewsArticle이 Topic 단위 Intelligence로 변환되는 내부 처리 과정</a:t>
            </a:r>
            <a:endParaRPr/>
          </a:p>
        </p:txBody>
      </p:sp>
      <p:sp>
        <p:nvSpPr>
          <p:cNvPr id="530" name="Google Shape;530;p20"/>
          <p:cNvSpPr txBox="1"/>
          <p:nvPr/>
        </p:nvSpPr>
        <p:spPr>
          <a:xfrm>
            <a:off x="868680" y="12252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콘텐츠 가공 파이프라인</a:t>
            </a:r>
            <a:endParaRPr/>
          </a:p>
        </p:txBody>
      </p:sp>
      <p:sp>
        <p:nvSpPr>
          <p:cNvPr id="531" name="Google Shape;531;p20"/>
          <p:cNvSpPr/>
          <p:nvPr/>
        </p:nvSpPr>
        <p:spPr>
          <a:xfrm>
            <a:off x="868680" y="1481328"/>
            <a:ext cx="10469880" cy="9144"/>
          </a:xfrm>
          <a:prstGeom prst="rect">
            <a:avLst/>
          </a:prstGeom>
          <a:solidFill>
            <a:srgbClr val="CFD8E4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658368" y="1810512"/>
            <a:ext cx="1298448" cy="69494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NewsArticle 저장</a:t>
            </a:r>
            <a:endParaRPr/>
          </a:p>
        </p:txBody>
      </p:sp>
      <p:sp>
        <p:nvSpPr>
          <p:cNvPr id="533" name="Google Shape;533;p20"/>
          <p:cNvSpPr/>
          <p:nvPr/>
        </p:nvSpPr>
        <p:spPr>
          <a:xfrm>
            <a:off x="2304288" y="1810512"/>
            <a:ext cx="1335024" cy="69494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Kafka Event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news.created</a:t>
            </a: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3986784" y="1810512"/>
            <a:ext cx="1426464" cy="694944"/>
          </a:xfrm>
          <a:prstGeom prst="rect">
            <a:avLst/>
          </a:prstGeom>
          <a:solidFill>
            <a:srgbClr val="EEF4FB"/>
          </a:solidFill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기사 AI 분석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요약 · 키워드 · 카테고리</a:t>
            </a:r>
            <a:b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lang="en-US" sz="76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관련 게임</a:t>
            </a:r>
            <a:endParaRPr/>
          </a:p>
        </p:txBody>
      </p:sp>
      <p:sp>
        <p:nvSpPr>
          <p:cNvPr id="535" name="Google Shape;535;p20"/>
          <p:cNvSpPr/>
          <p:nvPr/>
        </p:nvSpPr>
        <p:spPr>
          <a:xfrm>
            <a:off x="5852160" y="1810512"/>
            <a:ext cx="1444752" cy="69494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후보 조회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76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기존 Topic 후보와 비교</a:t>
            </a:r>
            <a:endParaRPr/>
          </a:p>
        </p:txBody>
      </p:sp>
      <p:sp>
        <p:nvSpPr>
          <p:cNvPr id="536" name="Google Shape;536;p20"/>
          <p:cNvSpPr/>
          <p:nvPr/>
        </p:nvSpPr>
        <p:spPr>
          <a:xfrm>
            <a:off x="7772400" y="1810512"/>
            <a:ext cx="1481328" cy="6949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동일 사건 판단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76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같은 실제 사건인가?</a:t>
            </a:r>
            <a:endParaRPr/>
          </a:p>
        </p:txBody>
      </p:sp>
      <p:cxnSp>
        <p:nvCxnSpPr>
          <p:cNvPr id="537" name="Google Shape;537;p20"/>
          <p:cNvCxnSpPr/>
          <p:nvPr/>
        </p:nvCxnSpPr>
        <p:spPr>
          <a:xfrm>
            <a:off x="1956815" y="2157984"/>
            <a:ext cx="347473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38" name="Google Shape;538;p20"/>
          <p:cNvSpPr txBox="1"/>
          <p:nvPr/>
        </p:nvSpPr>
        <p:spPr>
          <a:xfrm>
            <a:off x="2011680" y="204825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cxnSp>
        <p:nvCxnSpPr>
          <p:cNvPr id="539" name="Google Shape;539;p20"/>
          <p:cNvCxnSpPr/>
          <p:nvPr/>
        </p:nvCxnSpPr>
        <p:spPr>
          <a:xfrm>
            <a:off x="3639312" y="2157984"/>
            <a:ext cx="347472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40" name="Google Shape;540;p20"/>
          <p:cNvSpPr txBox="1"/>
          <p:nvPr/>
        </p:nvSpPr>
        <p:spPr>
          <a:xfrm>
            <a:off x="3694176" y="204825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cxnSp>
        <p:nvCxnSpPr>
          <p:cNvPr id="541" name="Google Shape;541;p20"/>
          <p:cNvCxnSpPr/>
          <p:nvPr/>
        </p:nvCxnSpPr>
        <p:spPr>
          <a:xfrm>
            <a:off x="5413248" y="2157984"/>
            <a:ext cx="438912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42" name="Google Shape;542;p20"/>
          <p:cNvSpPr txBox="1"/>
          <p:nvPr/>
        </p:nvSpPr>
        <p:spPr>
          <a:xfrm>
            <a:off x="5513832" y="204825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cxnSp>
        <p:nvCxnSpPr>
          <p:cNvPr id="543" name="Google Shape;543;p20"/>
          <p:cNvCxnSpPr/>
          <p:nvPr/>
        </p:nvCxnSpPr>
        <p:spPr>
          <a:xfrm>
            <a:off x="7296912" y="2157984"/>
            <a:ext cx="475488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44" name="Google Shape;544;p20"/>
          <p:cNvSpPr txBox="1"/>
          <p:nvPr/>
        </p:nvSpPr>
        <p:spPr>
          <a:xfrm>
            <a:off x="7415783" y="204825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cxnSp>
        <p:nvCxnSpPr>
          <p:cNvPr id="545" name="Google Shape;545;p20"/>
          <p:cNvCxnSpPr/>
          <p:nvPr/>
        </p:nvCxnSpPr>
        <p:spPr>
          <a:xfrm>
            <a:off x="8513064" y="2505456"/>
            <a:ext cx="0" cy="448056"/>
          </a:xfrm>
          <a:prstGeom prst="straightConnector1">
            <a:avLst/>
          </a:prstGeom>
          <a:noFill/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46" name="Google Shape;546;p20"/>
          <p:cNvSpPr/>
          <p:nvPr/>
        </p:nvSpPr>
        <p:spPr>
          <a:xfrm>
            <a:off x="6812280" y="3154680"/>
            <a:ext cx="1572768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기존 Topic 연결</a:t>
            </a:r>
            <a:endParaRPr/>
          </a:p>
        </p:txBody>
      </p:sp>
      <p:sp>
        <p:nvSpPr>
          <p:cNvPr id="547" name="Google Shape;547;p20"/>
          <p:cNvSpPr/>
          <p:nvPr/>
        </p:nvSpPr>
        <p:spPr>
          <a:xfrm>
            <a:off x="9070848" y="3154680"/>
            <a:ext cx="1572768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신규 Topic 생성</a:t>
            </a:r>
            <a:endParaRPr/>
          </a:p>
        </p:txBody>
      </p:sp>
      <p:cxnSp>
        <p:nvCxnSpPr>
          <p:cNvPr id="548" name="Google Shape;548;p20"/>
          <p:cNvCxnSpPr/>
          <p:nvPr/>
        </p:nvCxnSpPr>
        <p:spPr>
          <a:xfrm flipH="1">
            <a:off x="7598664" y="2953512"/>
            <a:ext cx="914400" cy="201168"/>
          </a:xfrm>
          <a:prstGeom prst="straightConnector1">
            <a:avLst/>
          </a:prstGeom>
          <a:noFill/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49" name="Google Shape;549;p20"/>
          <p:cNvCxnSpPr/>
          <p:nvPr/>
        </p:nvCxnSpPr>
        <p:spPr>
          <a:xfrm>
            <a:off x="8513064" y="2953512"/>
            <a:ext cx="1344168" cy="201168"/>
          </a:xfrm>
          <a:prstGeom prst="straightConnector1">
            <a:avLst/>
          </a:prstGeom>
          <a:noFill/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50" name="Google Shape;550;p20"/>
          <p:cNvSpPr txBox="1"/>
          <p:nvPr/>
        </p:nvSpPr>
        <p:spPr>
          <a:xfrm>
            <a:off x="7525512" y="2825496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YES</a:t>
            </a:r>
            <a:endParaRPr/>
          </a:p>
        </p:txBody>
      </p:sp>
      <p:sp>
        <p:nvSpPr>
          <p:cNvPr id="551" name="Google Shape;551;p20"/>
          <p:cNvSpPr txBox="1"/>
          <p:nvPr/>
        </p:nvSpPr>
        <p:spPr>
          <a:xfrm>
            <a:off x="9738360" y="2825496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NO</a:t>
            </a:r>
            <a:endParaRPr/>
          </a:p>
        </p:txBody>
      </p:sp>
      <p:sp>
        <p:nvSpPr>
          <p:cNvPr id="552" name="Google Shape;552;p20"/>
          <p:cNvSpPr/>
          <p:nvPr/>
        </p:nvSpPr>
        <p:spPr>
          <a:xfrm>
            <a:off x="7699248" y="4370832"/>
            <a:ext cx="1664208" cy="694944"/>
          </a:xfrm>
          <a:prstGeom prst="rect">
            <a:avLst/>
          </a:prstGeom>
          <a:solidFill>
            <a:srgbClr val="EEF4FB"/>
          </a:solidFill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분석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통합 요약 · 중요도</a:t>
            </a:r>
            <a:b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lang="en-US" sz="76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왜 중요한가</a:t>
            </a:r>
            <a:endParaRPr/>
          </a:p>
        </p:txBody>
      </p:sp>
      <p:cxnSp>
        <p:nvCxnSpPr>
          <p:cNvPr id="553" name="Google Shape;553;p20"/>
          <p:cNvCxnSpPr/>
          <p:nvPr/>
        </p:nvCxnSpPr>
        <p:spPr>
          <a:xfrm>
            <a:off x="7598664" y="3813048"/>
            <a:ext cx="649224" cy="557784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54" name="Google Shape;554;p20"/>
          <p:cNvCxnSpPr/>
          <p:nvPr/>
        </p:nvCxnSpPr>
        <p:spPr>
          <a:xfrm flipH="1">
            <a:off x="8833104" y="3813048"/>
            <a:ext cx="1024128" cy="557784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55" name="Google Shape;555;p20"/>
          <p:cNvSpPr/>
          <p:nvPr/>
        </p:nvSpPr>
        <p:spPr>
          <a:xfrm>
            <a:off x="10058400" y="4370832"/>
            <a:ext cx="1444752" cy="69494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Feed 활용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74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요약 · 중요도 · 맥락</a:t>
            </a:r>
            <a:endParaRPr/>
          </a:p>
        </p:txBody>
      </p:sp>
      <p:cxnSp>
        <p:nvCxnSpPr>
          <p:cNvPr id="556" name="Google Shape;556;p20"/>
          <p:cNvCxnSpPr/>
          <p:nvPr/>
        </p:nvCxnSpPr>
        <p:spPr>
          <a:xfrm>
            <a:off x="9363456" y="4718304"/>
            <a:ext cx="694944" cy="0"/>
          </a:xfrm>
          <a:prstGeom prst="straightConnector1">
            <a:avLst/>
          </a:prstGeom>
          <a:noFill/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57" name="Google Shape;557;p20"/>
          <p:cNvSpPr txBox="1"/>
          <p:nvPr/>
        </p:nvSpPr>
        <p:spPr>
          <a:xfrm>
            <a:off x="9692640" y="4608576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B7863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sp>
        <p:nvSpPr>
          <p:cNvPr id="558" name="Google Shape;558;p20"/>
          <p:cNvSpPr txBox="1"/>
          <p:nvPr/>
        </p:nvSpPr>
        <p:spPr>
          <a:xfrm>
            <a:off x="868678" y="3163799"/>
            <a:ext cx="5934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00" lIns="24200" spcFirstLastPara="1" rIns="24200" wrap="square" tIns="1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91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두 단계의 AI 역할</a:t>
            </a:r>
            <a:endParaRPr sz="1854"/>
          </a:p>
        </p:txBody>
      </p:sp>
      <p:sp>
        <p:nvSpPr>
          <p:cNvPr id="559" name="Google Shape;559;p20"/>
          <p:cNvSpPr/>
          <p:nvPr/>
        </p:nvSpPr>
        <p:spPr>
          <a:xfrm>
            <a:off x="868675" y="3563456"/>
            <a:ext cx="3166800" cy="1429200"/>
          </a:xfrm>
          <a:prstGeom prst="rect">
            <a:avLst/>
          </a:prstGeom>
          <a:solidFill>
            <a:srgbClr val="FFFFFF"/>
          </a:solidFill>
          <a:ln cap="flat" cmpd="sng" w="134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72650" lIns="181650" spcFirstLastPara="1" rIns="145325" wrap="square" tIns="1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17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기사 분석  |  개별 기사 구조화</a:t>
            </a:r>
            <a:endParaRPr sz="1854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요약 · 키워드 · 카테고리 · 관련 게임</a:t>
            </a:r>
            <a:endParaRPr sz="1854"/>
          </a:p>
          <a:p>
            <a:pPr indent="0" lvl="0" marL="0" marR="0" rtl="0" algn="l">
              <a:spcBef>
                <a:spcPts val="662"/>
              </a:spcBef>
              <a:spcAft>
                <a:spcPts val="0"/>
              </a:spcAft>
              <a:buNone/>
            </a:pPr>
            <a:r>
              <a:rPr b="1" lang="en-US" sz="1217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분석  |  사건 단위 맥락 생성</a:t>
            </a:r>
            <a:endParaRPr sz="1854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통합 요약 · 중요도 · 왜 중요한가</a:t>
            </a:r>
            <a:endParaRPr sz="1854"/>
          </a:p>
        </p:txBody>
      </p:sp>
      <p:sp>
        <p:nvSpPr>
          <p:cNvPr id="560" name="Google Shape;560;p20"/>
          <p:cNvSpPr/>
          <p:nvPr/>
        </p:nvSpPr>
        <p:spPr>
          <a:xfrm>
            <a:off x="868680" y="5943600"/>
            <a:ext cx="10469880" cy="438912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AI는 사용자 Feed 조회 시점이 아니라, 뉴스 유입 후 콘텐츠 처리 과정에서 수행되도록 설계</a:t>
            </a:r>
            <a:endParaRPr/>
          </a:p>
        </p:txBody>
      </p:sp>
      <p:sp>
        <p:nvSpPr>
          <p:cNvPr id="561" name="Google Shape;561;p20"/>
          <p:cNvSpPr/>
          <p:nvPr/>
        </p:nvSpPr>
        <p:spPr>
          <a:xfrm>
            <a:off x="502920" y="292608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b="0"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0</a:t>
            </a:r>
            <a:r>
              <a:rPr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 txBox="1"/>
          <p:nvPr/>
        </p:nvSpPr>
        <p:spPr>
          <a:xfrm>
            <a:off x="868680" y="228600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데이터 모델링 / ERD 핵심</a:t>
            </a:r>
            <a:endParaRPr/>
          </a:p>
        </p:txBody>
      </p:sp>
      <p:sp>
        <p:nvSpPr>
          <p:cNvPr id="567" name="Google Shape;567;p21"/>
          <p:cNvSpPr txBox="1"/>
          <p:nvPr/>
        </p:nvSpPr>
        <p:spPr>
          <a:xfrm>
            <a:off x="868680" y="71323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기사·Topic·Game 사이의 N:M 관계를 중간 Entity로 풀어 사건 중심 데이터 구조를 설계</a:t>
            </a:r>
            <a:endParaRPr/>
          </a:p>
        </p:txBody>
      </p:sp>
      <p:sp>
        <p:nvSpPr>
          <p:cNvPr id="568" name="Google Shape;568;p21"/>
          <p:cNvSpPr txBox="1"/>
          <p:nvPr/>
        </p:nvSpPr>
        <p:spPr>
          <a:xfrm>
            <a:off x="914400" y="1417320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latin typeface="Noto Sans"/>
                <a:ea typeface="Noto Sans"/>
                <a:cs typeface="Noto Sans"/>
                <a:sym typeface="Noto Sans"/>
              </a:rPr>
              <a:t>핵심 관계 모델</a:t>
            </a:r>
            <a:endParaRPr/>
          </a:p>
        </p:txBody>
      </p:sp>
      <p:sp>
        <p:nvSpPr>
          <p:cNvPr id="569" name="Google Shape;569;p21"/>
          <p:cNvSpPr/>
          <p:nvPr/>
        </p:nvSpPr>
        <p:spPr>
          <a:xfrm>
            <a:off x="914400" y="1673352"/>
            <a:ext cx="10607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868680" y="1901952"/>
            <a:ext cx="6400800" cy="34747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71" name="Google Shape;571;p21"/>
          <p:cNvCxnSpPr/>
          <p:nvPr/>
        </p:nvCxnSpPr>
        <p:spPr>
          <a:xfrm>
            <a:off x="2560320" y="2551176"/>
            <a:ext cx="393192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72" name="Google Shape;572;p21"/>
          <p:cNvCxnSpPr/>
          <p:nvPr/>
        </p:nvCxnSpPr>
        <p:spPr>
          <a:xfrm>
            <a:off x="4507992" y="2551176"/>
            <a:ext cx="429768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73" name="Google Shape;573;p21"/>
          <p:cNvSpPr txBox="1"/>
          <p:nvPr/>
        </p:nvSpPr>
        <p:spPr>
          <a:xfrm>
            <a:off x="2528315" y="236829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latin typeface="Noto Sans"/>
                <a:ea typeface="Noto Sans"/>
                <a:cs typeface="Noto Sans"/>
                <a:sym typeface="Noto Sans"/>
              </a:rPr>
              <a:t>1 : N</a:t>
            </a:r>
            <a:endParaRPr/>
          </a:p>
        </p:txBody>
      </p:sp>
      <p:sp>
        <p:nvSpPr>
          <p:cNvPr id="574" name="Google Shape;574;p21"/>
          <p:cNvSpPr txBox="1"/>
          <p:nvPr/>
        </p:nvSpPr>
        <p:spPr>
          <a:xfrm>
            <a:off x="4494276" y="236829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latin typeface="Noto Sans"/>
                <a:ea typeface="Noto Sans"/>
                <a:cs typeface="Noto Sans"/>
                <a:sym typeface="Noto Sans"/>
              </a:rPr>
              <a:t>N : 1</a:t>
            </a:r>
            <a:endParaRPr/>
          </a:p>
        </p:txBody>
      </p:sp>
      <p:cxnSp>
        <p:nvCxnSpPr>
          <p:cNvPr id="575" name="Google Shape;575;p21"/>
          <p:cNvCxnSpPr/>
          <p:nvPr/>
        </p:nvCxnSpPr>
        <p:spPr>
          <a:xfrm>
            <a:off x="2560320" y="3538728"/>
            <a:ext cx="393192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76" name="Google Shape;576;p21"/>
          <p:cNvCxnSpPr/>
          <p:nvPr/>
        </p:nvCxnSpPr>
        <p:spPr>
          <a:xfrm>
            <a:off x="4507992" y="3538728"/>
            <a:ext cx="429768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77" name="Google Shape;577;p21"/>
          <p:cNvSpPr txBox="1"/>
          <p:nvPr/>
        </p:nvSpPr>
        <p:spPr>
          <a:xfrm>
            <a:off x="2528315" y="335584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latin typeface="Noto Sans"/>
                <a:ea typeface="Noto Sans"/>
                <a:cs typeface="Noto Sans"/>
                <a:sym typeface="Noto Sans"/>
              </a:rPr>
              <a:t>1 : N</a:t>
            </a:r>
            <a:endParaRPr/>
          </a:p>
        </p:txBody>
      </p:sp>
      <p:sp>
        <p:nvSpPr>
          <p:cNvPr id="578" name="Google Shape;578;p21"/>
          <p:cNvSpPr txBox="1"/>
          <p:nvPr/>
        </p:nvSpPr>
        <p:spPr>
          <a:xfrm>
            <a:off x="4494276" y="335584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latin typeface="Noto Sans"/>
                <a:ea typeface="Noto Sans"/>
                <a:cs typeface="Noto Sans"/>
                <a:sym typeface="Noto Sans"/>
              </a:rPr>
              <a:t>N : 1</a:t>
            </a:r>
            <a:endParaRPr/>
          </a:p>
        </p:txBody>
      </p:sp>
      <p:cxnSp>
        <p:nvCxnSpPr>
          <p:cNvPr id="579" name="Google Shape;579;p21"/>
          <p:cNvCxnSpPr/>
          <p:nvPr/>
        </p:nvCxnSpPr>
        <p:spPr>
          <a:xfrm>
            <a:off x="2560320" y="4526279"/>
            <a:ext cx="393192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80" name="Google Shape;580;p21"/>
          <p:cNvCxnSpPr/>
          <p:nvPr/>
        </p:nvCxnSpPr>
        <p:spPr>
          <a:xfrm>
            <a:off x="4507992" y="4526279"/>
            <a:ext cx="429768" cy="0"/>
          </a:xfrm>
          <a:prstGeom prst="straightConnector1">
            <a:avLst/>
          </a:prstGeom>
          <a:noFill/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1" name="Google Shape;581;p21"/>
          <p:cNvSpPr txBox="1"/>
          <p:nvPr/>
        </p:nvSpPr>
        <p:spPr>
          <a:xfrm>
            <a:off x="2528315" y="4343399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latin typeface="Noto Sans"/>
                <a:ea typeface="Noto Sans"/>
                <a:cs typeface="Noto Sans"/>
                <a:sym typeface="Noto Sans"/>
              </a:rPr>
              <a:t>1 : N</a:t>
            </a:r>
            <a:endParaRPr/>
          </a:p>
        </p:txBody>
      </p:sp>
      <p:sp>
        <p:nvSpPr>
          <p:cNvPr id="582" name="Google Shape;582;p21"/>
          <p:cNvSpPr txBox="1"/>
          <p:nvPr/>
        </p:nvSpPr>
        <p:spPr>
          <a:xfrm>
            <a:off x="4494276" y="4343399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latin typeface="Noto Sans"/>
                <a:ea typeface="Noto Sans"/>
                <a:cs typeface="Noto Sans"/>
                <a:sym typeface="Noto Sans"/>
              </a:rPr>
              <a:t>N : 1</a:t>
            </a:r>
            <a:endParaRPr/>
          </a:p>
        </p:txBody>
      </p:sp>
      <p:sp>
        <p:nvSpPr>
          <p:cNvPr id="583" name="Google Shape;583;p21"/>
          <p:cNvSpPr/>
          <p:nvPr/>
        </p:nvSpPr>
        <p:spPr>
          <a:xfrm>
            <a:off x="1143000" y="226771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latin typeface="Noto Sans"/>
                <a:ea typeface="Noto Sans"/>
                <a:cs typeface="Noto Sans"/>
                <a:sym typeface="Noto Sans"/>
              </a:rPr>
              <a:t>NewsArticle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>
                <a:latin typeface="Noto Sans"/>
                <a:ea typeface="Noto Sans"/>
                <a:cs typeface="Noto Sans"/>
                <a:sym typeface="Noto Sans"/>
              </a:rPr>
              <a:t>개별 원본 기사</a:t>
            </a:r>
            <a:endParaRPr/>
          </a:p>
        </p:txBody>
      </p:sp>
      <p:sp>
        <p:nvSpPr>
          <p:cNvPr id="584" name="Google Shape;584;p21"/>
          <p:cNvSpPr/>
          <p:nvPr/>
        </p:nvSpPr>
        <p:spPr>
          <a:xfrm>
            <a:off x="2953512" y="2267712"/>
            <a:ext cx="1554480" cy="566928"/>
          </a:xfrm>
          <a:prstGeom prst="rect">
            <a:avLst/>
          </a:prstGeom>
          <a:solidFill>
            <a:srgbClr val="EEF4FB"/>
          </a:solidFill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latin typeface="Noto Sans"/>
                <a:ea typeface="Noto Sans"/>
                <a:cs typeface="Noto Sans"/>
                <a:sym typeface="Noto Sans"/>
              </a:rPr>
              <a:t>ArticleGame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>
                <a:latin typeface="Noto Sans"/>
                <a:ea typeface="Noto Sans"/>
                <a:cs typeface="Noto Sans"/>
                <a:sym typeface="Noto Sans"/>
              </a:rPr>
              <a:t>기사 ↔ 게임</a:t>
            </a:r>
            <a:endParaRPr/>
          </a:p>
        </p:txBody>
      </p:sp>
      <p:sp>
        <p:nvSpPr>
          <p:cNvPr id="585" name="Google Shape;585;p21"/>
          <p:cNvSpPr/>
          <p:nvPr/>
        </p:nvSpPr>
        <p:spPr>
          <a:xfrm>
            <a:off x="4937760" y="226771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latin typeface="Noto Sans"/>
                <a:ea typeface="Noto Sans"/>
                <a:cs typeface="Noto Sans"/>
                <a:sym typeface="Noto Sans"/>
              </a:rPr>
              <a:t>Game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>
                <a:latin typeface="Noto Sans"/>
                <a:ea typeface="Noto Sans"/>
                <a:cs typeface="Noto Sans"/>
                <a:sym typeface="Noto Sans"/>
              </a:rPr>
              <a:t>게임 기준 정보</a:t>
            </a:r>
            <a:endParaRPr/>
          </a:p>
        </p:txBody>
      </p:sp>
      <p:sp>
        <p:nvSpPr>
          <p:cNvPr id="586" name="Google Shape;586;p21"/>
          <p:cNvSpPr/>
          <p:nvPr/>
        </p:nvSpPr>
        <p:spPr>
          <a:xfrm>
            <a:off x="1143000" y="3255264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latin typeface="Noto Sans"/>
                <a:ea typeface="Noto Sans"/>
                <a:cs typeface="Noto Sans"/>
                <a:sym typeface="Noto Sans"/>
              </a:rPr>
              <a:t>Topic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>
                <a:latin typeface="Noto Sans"/>
                <a:ea typeface="Noto Sans"/>
                <a:cs typeface="Noto Sans"/>
                <a:sym typeface="Noto Sans"/>
              </a:rPr>
              <a:t>하나의 실제 사건</a:t>
            </a:r>
            <a:endParaRPr/>
          </a:p>
        </p:txBody>
      </p:sp>
      <p:sp>
        <p:nvSpPr>
          <p:cNvPr id="587" name="Google Shape;587;p21"/>
          <p:cNvSpPr/>
          <p:nvPr/>
        </p:nvSpPr>
        <p:spPr>
          <a:xfrm>
            <a:off x="2953512" y="3255264"/>
            <a:ext cx="1554480" cy="566928"/>
          </a:xfrm>
          <a:prstGeom prst="rect">
            <a:avLst/>
          </a:prstGeom>
          <a:solidFill>
            <a:srgbClr val="EEF4FB"/>
          </a:solidFill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latin typeface="Noto Sans"/>
                <a:ea typeface="Noto Sans"/>
                <a:cs typeface="Noto Sans"/>
                <a:sym typeface="Noto Sans"/>
              </a:rPr>
              <a:t>TopicArticle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>
                <a:latin typeface="Noto Sans"/>
                <a:ea typeface="Noto Sans"/>
                <a:cs typeface="Noto Sans"/>
                <a:sym typeface="Noto Sans"/>
              </a:rPr>
              <a:t>사건 ↔ 기사</a:t>
            </a:r>
            <a:endParaRPr/>
          </a:p>
        </p:txBody>
      </p:sp>
      <p:sp>
        <p:nvSpPr>
          <p:cNvPr id="588" name="Google Shape;588;p21"/>
          <p:cNvSpPr/>
          <p:nvPr/>
        </p:nvSpPr>
        <p:spPr>
          <a:xfrm>
            <a:off x="4937760" y="3255264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latin typeface="Noto Sans"/>
                <a:ea typeface="Noto Sans"/>
                <a:cs typeface="Noto Sans"/>
                <a:sym typeface="Noto Sans"/>
              </a:rPr>
              <a:t>NewsArticle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>
                <a:latin typeface="Noto Sans"/>
                <a:ea typeface="Noto Sans"/>
                <a:cs typeface="Noto Sans"/>
                <a:sym typeface="Noto Sans"/>
              </a:rPr>
              <a:t>개별 원본 기사</a:t>
            </a:r>
            <a:endParaRPr/>
          </a:p>
        </p:txBody>
      </p:sp>
      <p:sp>
        <p:nvSpPr>
          <p:cNvPr id="589" name="Google Shape;589;p21"/>
          <p:cNvSpPr/>
          <p:nvPr/>
        </p:nvSpPr>
        <p:spPr>
          <a:xfrm>
            <a:off x="1143000" y="4242816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latin typeface="Noto Sans"/>
                <a:ea typeface="Noto Sans"/>
                <a:cs typeface="Noto Sans"/>
                <a:sym typeface="Noto Sans"/>
              </a:rPr>
              <a:t>Topic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>
                <a:latin typeface="Noto Sans"/>
                <a:ea typeface="Noto Sans"/>
                <a:cs typeface="Noto Sans"/>
                <a:sym typeface="Noto Sans"/>
              </a:rPr>
              <a:t>하나의 실제 사건</a:t>
            </a:r>
            <a:endParaRPr/>
          </a:p>
        </p:txBody>
      </p:sp>
      <p:sp>
        <p:nvSpPr>
          <p:cNvPr id="590" name="Google Shape;590;p21"/>
          <p:cNvSpPr/>
          <p:nvPr/>
        </p:nvSpPr>
        <p:spPr>
          <a:xfrm>
            <a:off x="2953512" y="4242816"/>
            <a:ext cx="1554480" cy="566928"/>
          </a:xfrm>
          <a:prstGeom prst="rect">
            <a:avLst/>
          </a:prstGeom>
          <a:solidFill>
            <a:srgbClr val="EEF4FB"/>
          </a:solidFill>
          <a:ln cap="flat" cmpd="sng" w="12700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latin typeface="Noto Sans"/>
                <a:ea typeface="Noto Sans"/>
                <a:cs typeface="Noto Sans"/>
                <a:sym typeface="Noto Sans"/>
              </a:rPr>
              <a:t>TopicGame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>
                <a:latin typeface="Noto Sans"/>
                <a:ea typeface="Noto Sans"/>
                <a:cs typeface="Noto Sans"/>
                <a:sym typeface="Noto Sans"/>
              </a:rPr>
              <a:t>사건 ↔ 게임</a:t>
            </a:r>
            <a:endParaRPr/>
          </a:p>
        </p:txBody>
      </p:sp>
      <p:sp>
        <p:nvSpPr>
          <p:cNvPr id="591" name="Google Shape;591;p21"/>
          <p:cNvSpPr/>
          <p:nvPr/>
        </p:nvSpPr>
        <p:spPr>
          <a:xfrm>
            <a:off x="4937760" y="4242816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latin typeface="Noto Sans"/>
                <a:ea typeface="Noto Sans"/>
                <a:cs typeface="Noto Sans"/>
                <a:sym typeface="Noto Sans"/>
              </a:rPr>
              <a:t>Game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>
                <a:latin typeface="Noto Sans"/>
                <a:ea typeface="Noto Sans"/>
                <a:cs typeface="Noto Sans"/>
                <a:sym typeface="Noto Sans"/>
              </a:rPr>
              <a:t>게임 기준 정보</a:t>
            </a:r>
            <a:endParaRPr/>
          </a:p>
        </p:txBody>
      </p:sp>
      <p:sp>
        <p:nvSpPr>
          <p:cNvPr id="592" name="Google Shape;592;p21"/>
          <p:cNvSpPr/>
          <p:nvPr/>
        </p:nvSpPr>
        <p:spPr>
          <a:xfrm>
            <a:off x="1097280" y="4992624"/>
            <a:ext cx="5943600" cy="292608"/>
          </a:xfrm>
          <a:prstGeom prst="rect">
            <a:avLst/>
          </a:prstGeom>
          <a:solidFill>
            <a:srgbClr val="F3F6FA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3" name="Google Shape;593;p21"/>
          <p:cNvSpPr txBox="1"/>
          <p:nvPr/>
        </p:nvSpPr>
        <p:spPr>
          <a:xfrm>
            <a:off x="1234440" y="5065776"/>
            <a:ext cx="5669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9">
                <a:latin typeface="Noto Sans"/>
                <a:ea typeface="Noto Sans"/>
                <a:cs typeface="Noto Sans"/>
                <a:sym typeface="Noto Sans"/>
              </a:rPr>
              <a:t>N:M 자체는 양쪽 엔티티 간 관계이며, 중간 Entity와는 1:N 구조로 관리</a:t>
            </a:r>
            <a:endParaRPr/>
          </a:p>
        </p:txBody>
      </p:sp>
      <p:sp>
        <p:nvSpPr>
          <p:cNvPr id="594" name="Google Shape;594;p21"/>
          <p:cNvSpPr/>
          <p:nvPr/>
        </p:nvSpPr>
        <p:spPr>
          <a:xfrm>
            <a:off x="7516368" y="1901952"/>
            <a:ext cx="3886200" cy="34747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5" name="Google Shape;595;p21"/>
          <p:cNvSpPr txBox="1"/>
          <p:nvPr/>
        </p:nvSpPr>
        <p:spPr>
          <a:xfrm>
            <a:off x="7735824" y="210312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설계 포인트</a:t>
            </a:r>
            <a:endParaRPr/>
          </a:p>
        </p:txBody>
      </p:sp>
      <p:sp>
        <p:nvSpPr>
          <p:cNvPr id="596" name="Google Shape;596;p21"/>
          <p:cNvSpPr/>
          <p:nvPr/>
        </p:nvSpPr>
        <p:spPr>
          <a:xfrm>
            <a:off x="7735824" y="2569463"/>
            <a:ext cx="91440" cy="91440"/>
          </a:xfrm>
          <a:prstGeom prst="rect">
            <a:avLst/>
          </a:prstGeom>
          <a:solidFill>
            <a:srgbClr val="315B8A"/>
          </a:solidFill>
          <a:ln cap="flat" cmpd="sng" w="9525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7" name="Google Shape;597;p21"/>
          <p:cNvSpPr txBox="1"/>
          <p:nvPr/>
        </p:nvSpPr>
        <p:spPr>
          <a:xfrm>
            <a:off x="7909560" y="2523744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latin typeface="Noto Sans"/>
                <a:ea typeface="Noto Sans"/>
                <a:cs typeface="Noto Sans"/>
                <a:sym typeface="Noto Sans"/>
              </a:rPr>
              <a:t>NewsArticle</a:t>
            </a:r>
            <a:endParaRPr/>
          </a:p>
        </p:txBody>
      </p:sp>
      <p:sp>
        <p:nvSpPr>
          <p:cNvPr id="598" name="Google Shape;598;p21"/>
          <p:cNvSpPr txBox="1"/>
          <p:nvPr/>
        </p:nvSpPr>
        <p:spPr>
          <a:xfrm>
            <a:off x="8869680" y="2523744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latin typeface="Noto Sans"/>
                <a:ea typeface="Noto Sans"/>
                <a:cs typeface="Noto Sans"/>
                <a:sym typeface="Noto Sans"/>
              </a:rPr>
              <a:t>외부에서 수집한 개별 원본 기사</a:t>
            </a:r>
            <a:endParaRPr/>
          </a:p>
        </p:txBody>
      </p:sp>
      <p:sp>
        <p:nvSpPr>
          <p:cNvPr id="599" name="Google Shape;599;p21"/>
          <p:cNvSpPr/>
          <p:nvPr/>
        </p:nvSpPr>
        <p:spPr>
          <a:xfrm>
            <a:off x="7735824" y="3044951"/>
            <a:ext cx="91440" cy="91440"/>
          </a:xfrm>
          <a:prstGeom prst="rect">
            <a:avLst/>
          </a:prstGeom>
          <a:solidFill>
            <a:srgbClr val="315B8A"/>
          </a:solidFill>
          <a:ln cap="flat" cmpd="sng" w="9525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0" name="Google Shape;600;p21"/>
          <p:cNvSpPr txBox="1"/>
          <p:nvPr/>
        </p:nvSpPr>
        <p:spPr>
          <a:xfrm>
            <a:off x="7909560" y="2999232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latin typeface="Noto Sans"/>
                <a:ea typeface="Noto Sans"/>
                <a:cs typeface="Noto Sans"/>
                <a:sym typeface="Noto Sans"/>
              </a:rPr>
              <a:t>Topic</a:t>
            </a:r>
            <a:endParaRPr/>
          </a:p>
        </p:txBody>
      </p:sp>
      <p:sp>
        <p:nvSpPr>
          <p:cNvPr id="601" name="Google Shape;601;p21"/>
          <p:cNvSpPr txBox="1"/>
          <p:nvPr/>
        </p:nvSpPr>
        <p:spPr>
          <a:xfrm>
            <a:off x="8869680" y="2999232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latin typeface="Noto Sans"/>
                <a:ea typeface="Noto Sans"/>
                <a:cs typeface="Noto Sans"/>
                <a:sym typeface="Noto Sans"/>
              </a:rPr>
              <a:t>여러 기사가 다루는 하나의 실제 사건</a:t>
            </a:r>
            <a:endParaRPr/>
          </a:p>
        </p:txBody>
      </p:sp>
      <p:sp>
        <p:nvSpPr>
          <p:cNvPr id="602" name="Google Shape;602;p21"/>
          <p:cNvSpPr/>
          <p:nvPr/>
        </p:nvSpPr>
        <p:spPr>
          <a:xfrm>
            <a:off x="7735824" y="3520439"/>
            <a:ext cx="91440" cy="91440"/>
          </a:xfrm>
          <a:prstGeom prst="rect">
            <a:avLst/>
          </a:prstGeom>
          <a:solidFill>
            <a:srgbClr val="315B8A"/>
          </a:solidFill>
          <a:ln cap="flat" cmpd="sng" w="9525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3" name="Google Shape;603;p21"/>
          <p:cNvSpPr txBox="1"/>
          <p:nvPr/>
        </p:nvSpPr>
        <p:spPr>
          <a:xfrm>
            <a:off x="7909560" y="3474720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latin typeface="Noto Sans"/>
                <a:ea typeface="Noto Sans"/>
                <a:cs typeface="Noto Sans"/>
                <a:sym typeface="Noto Sans"/>
              </a:rPr>
              <a:t>ArticleGame</a:t>
            </a:r>
            <a:endParaRPr/>
          </a:p>
        </p:txBody>
      </p:sp>
      <p:sp>
        <p:nvSpPr>
          <p:cNvPr id="604" name="Google Shape;604;p21"/>
          <p:cNvSpPr txBox="1"/>
          <p:nvPr/>
        </p:nvSpPr>
        <p:spPr>
          <a:xfrm>
            <a:off x="8869680" y="3474720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latin typeface="Noto Sans"/>
                <a:ea typeface="Noto Sans"/>
                <a:cs typeface="Noto Sans"/>
                <a:sym typeface="Noto Sans"/>
              </a:rPr>
              <a:t>기사↔게임 · isPrimary · confidenceScore</a:t>
            </a:r>
            <a:endParaRPr/>
          </a:p>
        </p:txBody>
      </p:sp>
      <p:sp>
        <p:nvSpPr>
          <p:cNvPr id="605" name="Google Shape;605;p21"/>
          <p:cNvSpPr/>
          <p:nvPr/>
        </p:nvSpPr>
        <p:spPr>
          <a:xfrm>
            <a:off x="7735824" y="3995928"/>
            <a:ext cx="91440" cy="91440"/>
          </a:xfrm>
          <a:prstGeom prst="rect">
            <a:avLst/>
          </a:prstGeom>
          <a:solidFill>
            <a:srgbClr val="315B8A"/>
          </a:solidFill>
          <a:ln cap="flat" cmpd="sng" w="9525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6" name="Google Shape;606;p21"/>
          <p:cNvSpPr txBox="1"/>
          <p:nvPr/>
        </p:nvSpPr>
        <p:spPr>
          <a:xfrm>
            <a:off x="7909560" y="395020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latin typeface="Noto Sans"/>
                <a:ea typeface="Noto Sans"/>
                <a:cs typeface="Noto Sans"/>
                <a:sym typeface="Noto Sans"/>
              </a:rPr>
              <a:t>TopicGame</a:t>
            </a:r>
            <a:endParaRPr/>
          </a:p>
        </p:txBody>
      </p:sp>
      <p:sp>
        <p:nvSpPr>
          <p:cNvPr id="607" name="Google Shape;607;p21"/>
          <p:cNvSpPr txBox="1"/>
          <p:nvPr/>
        </p:nvSpPr>
        <p:spPr>
          <a:xfrm>
            <a:off x="8869680" y="3950208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latin typeface="Noto Sans"/>
                <a:ea typeface="Noto Sans"/>
                <a:cs typeface="Noto Sans"/>
                <a:sym typeface="Noto Sans"/>
              </a:rPr>
              <a:t>Topic↔게임 · isPrimary · relevanceScore</a:t>
            </a:r>
            <a:endParaRPr/>
          </a:p>
        </p:txBody>
      </p:sp>
      <p:sp>
        <p:nvSpPr>
          <p:cNvPr id="608" name="Google Shape;608;p21"/>
          <p:cNvSpPr/>
          <p:nvPr/>
        </p:nvSpPr>
        <p:spPr>
          <a:xfrm>
            <a:off x="7735824" y="4471416"/>
            <a:ext cx="91440" cy="91440"/>
          </a:xfrm>
          <a:prstGeom prst="rect">
            <a:avLst/>
          </a:prstGeom>
          <a:solidFill>
            <a:srgbClr val="315B8A"/>
          </a:solidFill>
          <a:ln cap="flat" cmpd="sng" w="9525">
            <a:solidFill>
              <a:srgbClr val="315B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9" name="Google Shape;609;p21"/>
          <p:cNvSpPr txBox="1"/>
          <p:nvPr/>
        </p:nvSpPr>
        <p:spPr>
          <a:xfrm>
            <a:off x="7909560" y="4425696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latin typeface="Noto Sans"/>
                <a:ea typeface="Noto Sans"/>
                <a:cs typeface="Noto Sans"/>
                <a:sym typeface="Noto Sans"/>
              </a:rPr>
              <a:t>TopicArticle</a:t>
            </a:r>
            <a:endParaRPr/>
          </a:p>
        </p:txBody>
      </p:sp>
      <p:sp>
        <p:nvSpPr>
          <p:cNvPr id="610" name="Google Shape;610;p21"/>
          <p:cNvSpPr txBox="1"/>
          <p:nvPr/>
        </p:nvSpPr>
        <p:spPr>
          <a:xfrm>
            <a:off x="8869680" y="4425696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latin typeface="Noto Sans"/>
                <a:ea typeface="Noto Sans"/>
                <a:cs typeface="Noto Sans"/>
                <a:sym typeface="Noto Sans"/>
              </a:rPr>
              <a:t>Topic↔NewsArticle · 동일 사건의 복수 보도 연결</a:t>
            </a:r>
            <a:endParaRPr/>
          </a:p>
        </p:txBody>
      </p:sp>
      <p:sp>
        <p:nvSpPr>
          <p:cNvPr id="611" name="Google Shape;611;p21"/>
          <p:cNvSpPr/>
          <p:nvPr/>
        </p:nvSpPr>
        <p:spPr>
          <a:xfrm>
            <a:off x="7735824" y="4773168"/>
            <a:ext cx="3401568" cy="40233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2" name="Google Shape;612;p21"/>
          <p:cNvSpPr txBox="1"/>
          <p:nvPr/>
        </p:nvSpPr>
        <p:spPr>
          <a:xfrm>
            <a:off x="7882127" y="4855464"/>
            <a:ext cx="30906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latin typeface="Noto Sans"/>
                <a:ea typeface="Noto Sans"/>
                <a:cs typeface="Noto Sans"/>
                <a:sym typeface="Noto Sans"/>
              </a:rPr>
              <a:t>전체 ERD는 10개 Entity 기준 · 본 장은 핵심 관계만 확대</a:t>
            </a:r>
            <a:endParaRPr/>
          </a:p>
        </p:txBody>
      </p:sp>
      <p:sp>
        <p:nvSpPr>
          <p:cNvPr id="613" name="Google Shape;613;p21"/>
          <p:cNvSpPr/>
          <p:nvPr/>
        </p:nvSpPr>
        <p:spPr>
          <a:xfrm>
            <a:off x="914400" y="5806440"/>
            <a:ext cx="10607040" cy="438912"/>
          </a:xfrm>
          <a:prstGeom prst="rect">
            <a:avLst/>
          </a:prstGeom>
          <a:solidFill>
            <a:srgbClr val="F3F6FA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4" name="Google Shape;614;p21"/>
          <p:cNvSpPr txBox="1"/>
          <p:nvPr/>
        </p:nvSpPr>
        <p:spPr>
          <a:xfrm>
            <a:off x="1078992" y="5934456"/>
            <a:ext cx="10241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서비스 경계가 다른 데이터는 DB FK 대신 ID 기반 논리 참조로 관리</a:t>
            </a:r>
            <a:endParaRPr/>
          </a:p>
        </p:txBody>
      </p:sp>
      <p:sp>
        <p:nvSpPr>
          <p:cNvPr id="615" name="Google Shape;615;p21"/>
          <p:cNvSpPr/>
          <p:nvPr/>
        </p:nvSpPr>
        <p:spPr>
          <a:xfrm>
            <a:off x="502920" y="292608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b="0"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0</a:t>
            </a:r>
            <a:r>
              <a:rPr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2"/>
          <p:cNvSpPr/>
          <p:nvPr/>
        </p:nvSpPr>
        <p:spPr>
          <a:xfrm>
            <a:off x="896112" y="310896"/>
            <a:ext cx="521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31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172231"/>
                </a:solidFill>
                <a:latin typeface="Noto Sans"/>
                <a:ea typeface="Noto Sans"/>
                <a:cs typeface="Noto Sans"/>
                <a:sym typeface="Noto Sans"/>
              </a:rPr>
              <a:t>API 설계 / 서비스 통신 명세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896112" y="841248"/>
            <a:ext cx="6309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085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617085"/>
                </a:solidFill>
                <a:latin typeface="Noto Sans"/>
                <a:ea typeface="Noto Sans"/>
                <a:cs typeface="Noto Sans"/>
                <a:sym typeface="Noto Sans"/>
              </a:rPr>
              <a:t>사용자 API · 콘텐츠 처리 API · AI 내부 API로 목적별 분리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23" name="Google Shape;623;p22"/>
          <p:cNvCxnSpPr/>
          <p:nvPr/>
        </p:nvCxnSpPr>
        <p:spPr>
          <a:xfrm>
            <a:off x="896112" y="1225296"/>
            <a:ext cx="10735200" cy="0"/>
          </a:xfrm>
          <a:prstGeom prst="straightConnector1">
            <a:avLst/>
          </a:prstGeom>
          <a:noFill/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4" name="Google Shape;624;p22"/>
          <p:cNvSpPr/>
          <p:nvPr/>
        </p:nvSpPr>
        <p:spPr>
          <a:xfrm>
            <a:off x="896112" y="1554480"/>
            <a:ext cx="3420000" cy="2788800"/>
          </a:xfrm>
          <a:prstGeom prst="roundRect">
            <a:avLst>
              <a:gd fmla="val 1639" name="adj"/>
            </a:avLst>
          </a:prstGeom>
          <a:solidFill>
            <a:srgbClr val="FFFFFF"/>
          </a:solidFill>
          <a:ln cap="flat" cmpd="sng" w="12700">
            <a:solidFill>
              <a:srgbClr val="C9D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2"/>
          <p:cNvSpPr/>
          <p:nvPr/>
        </p:nvSpPr>
        <p:spPr>
          <a:xfrm>
            <a:off x="1115568" y="1764792"/>
            <a:ext cx="27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1F4E8C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6" name="Google Shape;626;p22"/>
          <p:cNvSpPr/>
          <p:nvPr/>
        </p:nvSpPr>
        <p:spPr>
          <a:xfrm>
            <a:off x="1426464" y="1719072"/>
            <a:ext cx="270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31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172231"/>
                </a:solidFill>
                <a:latin typeface="Noto Sans"/>
                <a:ea typeface="Noto Sans"/>
                <a:cs typeface="Noto Sans"/>
                <a:sym typeface="Noto Sans"/>
              </a:rPr>
              <a:t>사용자 API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1426464" y="2011680"/>
            <a:ext cx="2706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085"/>
              </a:buClr>
              <a:buSzPts val="820"/>
              <a:buFont typeface="Noto Sans"/>
              <a:buNone/>
            </a:pPr>
            <a:r>
              <a:rPr b="0" i="0" lang="en-US" sz="820" u="none" cap="none" strike="noStrike">
                <a:solidFill>
                  <a:srgbClr val="617085"/>
                </a:solidFill>
                <a:latin typeface="Noto Sans"/>
                <a:ea typeface="Noto Sans"/>
                <a:cs typeface="Noto Sans"/>
                <a:sym typeface="Noto Sans"/>
              </a:rPr>
              <a:t>화면에서 사용하는 기능 · API Gateway 경유</a:t>
            </a:r>
            <a:endParaRPr b="0" i="0" sz="8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28" name="Google Shape;628;p22"/>
          <p:cNvCxnSpPr/>
          <p:nvPr/>
        </p:nvCxnSpPr>
        <p:spPr>
          <a:xfrm>
            <a:off x="1115568" y="2340864"/>
            <a:ext cx="2980800" cy="0"/>
          </a:xfrm>
          <a:prstGeom prst="straightConnector1">
            <a:avLst/>
          </a:prstGeom>
          <a:noFill/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p22"/>
          <p:cNvSpPr/>
          <p:nvPr/>
        </p:nvSpPr>
        <p:spPr>
          <a:xfrm>
            <a:off x="1188720" y="2551176"/>
            <a:ext cx="567000" cy="201300"/>
          </a:xfrm>
          <a:prstGeom prst="roundRect">
            <a:avLst>
              <a:gd fmla="val 18182" name="adj"/>
            </a:avLst>
          </a:prstGeom>
          <a:solidFill>
            <a:srgbClr val="EEF4FB"/>
          </a:solidFill>
          <a:ln cap="flat" cmpd="sng" w="12700">
            <a:solidFill>
              <a:srgbClr val="EEF4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2"/>
          <p:cNvSpPr/>
          <p:nvPr/>
        </p:nvSpPr>
        <p:spPr>
          <a:xfrm>
            <a:off x="1188720" y="2562149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760"/>
              <a:buFont typeface="Noto Sans"/>
              <a:buNone/>
            </a:pPr>
            <a:r>
              <a:rPr b="1" i="0" lang="en-US" sz="760" u="none" cap="none" strike="noStrike">
                <a:solidFill>
                  <a:srgbClr val="1F4E8C"/>
                </a:solidFill>
                <a:latin typeface="Noto Sans"/>
                <a:ea typeface="Noto Sans"/>
                <a:cs typeface="Noto Sans"/>
                <a:sym typeface="Noto Sans"/>
              </a:rPr>
              <a:t>GET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1" name="Google Shape;631;p22"/>
          <p:cNvSpPr/>
          <p:nvPr/>
        </p:nvSpPr>
        <p:spPr>
          <a:xfrm>
            <a:off x="1874520" y="2542032"/>
            <a:ext cx="224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447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283447"/>
                </a:solidFill>
                <a:latin typeface="Noto Sans"/>
                <a:ea typeface="Noto Sans"/>
                <a:cs typeface="Noto Sans"/>
                <a:sym typeface="Noto Sans"/>
              </a:rPr>
              <a:t>/api/topics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2" name="Google Shape;632;p22"/>
          <p:cNvSpPr/>
          <p:nvPr/>
        </p:nvSpPr>
        <p:spPr>
          <a:xfrm>
            <a:off x="1188720" y="2935224"/>
            <a:ext cx="567000" cy="201300"/>
          </a:xfrm>
          <a:prstGeom prst="roundRect">
            <a:avLst>
              <a:gd fmla="val 18182" name="adj"/>
            </a:avLst>
          </a:prstGeom>
          <a:solidFill>
            <a:srgbClr val="EEF4FB"/>
          </a:solidFill>
          <a:ln cap="flat" cmpd="sng" w="12700">
            <a:solidFill>
              <a:srgbClr val="EEF4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2"/>
          <p:cNvSpPr/>
          <p:nvPr/>
        </p:nvSpPr>
        <p:spPr>
          <a:xfrm>
            <a:off x="1188720" y="2946197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760"/>
              <a:buFont typeface="Noto Sans"/>
              <a:buNone/>
            </a:pPr>
            <a:r>
              <a:rPr b="1" i="0" lang="en-US" sz="760" u="none" cap="none" strike="noStrike">
                <a:solidFill>
                  <a:srgbClr val="1F4E8C"/>
                </a:solidFill>
                <a:latin typeface="Noto Sans"/>
                <a:ea typeface="Noto Sans"/>
                <a:cs typeface="Noto Sans"/>
                <a:sym typeface="Noto Sans"/>
              </a:rPr>
              <a:t>GET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1874520" y="2926080"/>
            <a:ext cx="224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447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283447"/>
                </a:solidFill>
                <a:latin typeface="Noto Sans"/>
                <a:ea typeface="Noto Sans"/>
                <a:cs typeface="Noto Sans"/>
                <a:sym typeface="Noto Sans"/>
              </a:rPr>
              <a:t>/api/topics/{id}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5" name="Google Shape;635;p22"/>
          <p:cNvSpPr/>
          <p:nvPr/>
        </p:nvSpPr>
        <p:spPr>
          <a:xfrm>
            <a:off x="1188720" y="3319272"/>
            <a:ext cx="567000" cy="201300"/>
          </a:xfrm>
          <a:prstGeom prst="roundRect">
            <a:avLst>
              <a:gd fmla="val 18182" name="adj"/>
            </a:avLst>
          </a:prstGeom>
          <a:solidFill>
            <a:srgbClr val="EEF6F0"/>
          </a:solidFill>
          <a:ln cap="flat" cmpd="sng" w="12700">
            <a:solidFill>
              <a:srgbClr val="EEF6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2"/>
          <p:cNvSpPr/>
          <p:nvPr/>
        </p:nvSpPr>
        <p:spPr>
          <a:xfrm>
            <a:off x="1188720" y="3330245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B3E"/>
              </a:buClr>
              <a:buSzPts val="760"/>
              <a:buFont typeface="Noto Sans"/>
              <a:buNone/>
            </a:pPr>
            <a:r>
              <a:rPr b="1" i="0" lang="en-US" sz="760" u="none" cap="none" strike="noStrike">
                <a:solidFill>
                  <a:srgbClr val="2F6B3E"/>
                </a:solidFill>
                <a:latin typeface="Noto Sans"/>
                <a:ea typeface="Noto Sans"/>
                <a:cs typeface="Noto Sans"/>
                <a:sym typeface="Noto Sans"/>
              </a:rPr>
              <a:t>POST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7" name="Google Shape;637;p22"/>
          <p:cNvSpPr/>
          <p:nvPr/>
        </p:nvSpPr>
        <p:spPr>
          <a:xfrm>
            <a:off x="1874520" y="3310128"/>
            <a:ext cx="224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447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283447"/>
                </a:solidFill>
                <a:latin typeface="Noto Sans"/>
                <a:ea typeface="Noto Sans"/>
                <a:cs typeface="Noto Sans"/>
                <a:sym typeface="Noto Sans"/>
              </a:rPr>
              <a:t>/api/interests/games/{gameId}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1188720" y="3703320"/>
            <a:ext cx="567000" cy="201300"/>
          </a:xfrm>
          <a:prstGeom prst="roundRect">
            <a:avLst>
              <a:gd fmla="val 18182" name="adj"/>
            </a:avLst>
          </a:prstGeom>
          <a:solidFill>
            <a:srgbClr val="EEF4FB"/>
          </a:solidFill>
          <a:ln cap="flat" cmpd="sng" w="12700">
            <a:solidFill>
              <a:srgbClr val="EEF4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2"/>
          <p:cNvSpPr/>
          <p:nvPr/>
        </p:nvSpPr>
        <p:spPr>
          <a:xfrm>
            <a:off x="1188720" y="3714293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760"/>
              <a:buFont typeface="Noto Sans"/>
              <a:buNone/>
            </a:pPr>
            <a:r>
              <a:rPr b="1" i="0" lang="en-US" sz="760" u="none" cap="none" strike="noStrike">
                <a:solidFill>
                  <a:srgbClr val="1F4E8C"/>
                </a:solidFill>
                <a:latin typeface="Noto Sans"/>
                <a:ea typeface="Noto Sans"/>
                <a:cs typeface="Noto Sans"/>
                <a:sym typeface="Noto Sans"/>
              </a:rPr>
              <a:t>GET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0" name="Google Shape;640;p22"/>
          <p:cNvSpPr/>
          <p:nvPr/>
        </p:nvSpPr>
        <p:spPr>
          <a:xfrm>
            <a:off x="1874520" y="3694176"/>
            <a:ext cx="224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447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283447"/>
                </a:solidFill>
                <a:latin typeface="Noto Sans"/>
                <a:ea typeface="Noto Sans"/>
                <a:cs typeface="Noto Sans"/>
                <a:sym typeface="Noto Sans"/>
              </a:rPr>
              <a:t>/api/games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1" name="Google Shape;641;p22"/>
          <p:cNvSpPr/>
          <p:nvPr/>
        </p:nvSpPr>
        <p:spPr>
          <a:xfrm>
            <a:off x="4389120" y="1554480"/>
            <a:ext cx="3420000" cy="2788800"/>
          </a:xfrm>
          <a:prstGeom prst="roundRect">
            <a:avLst>
              <a:gd fmla="val 1639" name="adj"/>
            </a:avLst>
          </a:prstGeom>
          <a:solidFill>
            <a:srgbClr val="FFFFFF"/>
          </a:solidFill>
          <a:ln cap="flat" cmpd="sng" w="12700">
            <a:solidFill>
              <a:srgbClr val="C9D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2"/>
          <p:cNvSpPr/>
          <p:nvPr/>
        </p:nvSpPr>
        <p:spPr>
          <a:xfrm>
            <a:off x="4608576" y="1764792"/>
            <a:ext cx="27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1F4E8C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3" name="Google Shape;643;p22"/>
          <p:cNvSpPr/>
          <p:nvPr/>
        </p:nvSpPr>
        <p:spPr>
          <a:xfrm>
            <a:off x="4919472" y="1719072"/>
            <a:ext cx="270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31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172231"/>
                </a:solidFill>
                <a:latin typeface="Noto Sans"/>
                <a:ea typeface="Noto Sans"/>
                <a:cs typeface="Noto Sans"/>
                <a:sym typeface="Noto Sans"/>
              </a:rPr>
              <a:t>콘텐츠 처리 API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4919472" y="2011680"/>
            <a:ext cx="2706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085"/>
              </a:buClr>
              <a:buSzPts val="820"/>
              <a:buFont typeface="Noto Sans"/>
              <a:buNone/>
            </a:pPr>
            <a:r>
              <a:rPr b="0" i="0" lang="en-US" sz="820" u="none" cap="none" strike="noStrike">
                <a:solidFill>
                  <a:srgbClr val="617085"/>
                </a:solidFill>
                <a:latin typeface="Noto Sans"/>
                <a:ea typeface="Noto Sans"/>
                <a:cs typeface="Noto Sans"/>
                <a:sym typeface="Noto Sans"/>
              </a:rPr>
              <a:t>수집 결과 저장 · 기사/Topic 관계 구성</a:t>
            </a:r>
            <a:endParaRPr b="0" i="0" sz="8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45" name="Google Shape;645;p22"/>
          <p:cNvCxnSpPr/>
          <p:nvPr/>
        </p:nvCxnSpPr>
        <p:spPr>
          <a:xfrm>
            <a:off x="4608576" y="2340864"/>
            <a:ext cx="2980800" cy="0"/>
          </a:xfrm>
          <a:prstGeom prst="straightConnector1">
            <a:avLst/>
          </a:prstGeom>
          <a:noFill/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6" name="Google Shape;646;p22"/>
          <p:cNvSpPr/>
          <p:nvPr/>
        </p:nvSpPr>
        <p:spPr>
          <a:xfrm>
            <a:off x="4681728" y="2551176"/>
            <a:ext cx="567000" cy="201300"/>
          </a:xfrm>
          <a:prstGeom prst="roundRect">
            <a:avLst>
              <a:gd fmla="val 18182" name="adj"/>
            </a:avLst>
          </a:prstGeom>
          <a:solidFill>
            <a:srgbClr val="EEF6F0"/>
          </a:solidFill>
          <a:ln cap="flat" cmpd="sng" w="12700">
            <a:solidFill>
              <a:srgbClr val="EEF6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2"/>
          <p:cNvSpPr/>
          <p:nvPr/>
        </p:nvSpPr>
        <p:spPr>
          <a:xfrm>
            <a:off x="4681728" y="2562149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B3E"/>
              </a:buClr>
              <a:buSzPts val="760"/>
              <a:buFont typeface="Noto Sans"/>
              <a:buNone/>
            </a:pPr>
            <a:r>
              <a:rPr b="1" i="0" lang="en-US" sz="760" u="none" cap="none" strike="noStrike">
                <a:solidFill>
                  <a:srgbClr val="2F6B3E"/>
                </a:solidFill>
                <a:latin typeface="Noto Sans"/>
                <a:ea typeface="Noto Sans"/>
                <a:cs typeface="Noto Sans"/>
                <a:sym typeface="Noto Sans"/>
              </a:rPr>
              <a:t>POST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5367528" y="2542032"/>
            <a:ext cx="224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447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283447"/>
                </a:solidFill>
                <a:latin typeface="Noto Sans"/>
                <a:ea typeface="Noto Sans"/>
                <a:cs typeface="Noto Sans"/>
                <a:sym typeface="Noto Sans"/>
              </a:rPr>
              <a:t>/api/collector/{source}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4681728" y="2935224"/>
            <a:ext cx="567000" cy="201300"/>
          </a:xfrm>
          <a:prstGeom prst="roundRect">
            <a:avLst>
              <a:gd fmla="val 18182" name="adj"/>
            </a:avLst>
          </a:prstGeom>
          <a:solidFill>
            <a:srgbClr val="EEF6F0"/>
          </a:solidFill>
          <a:ln cap="flat" cmpd="sng" w="12700">
            <a:solidFill>
              <a:srgbClr val="EEF6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2"/>
          <p:cNvSpPr/>
          <p:nvPr/>
        </p:nvSpPr>
        <p:spPr>
          <a:xfrm>
            <a:off x="4681728" y="2946197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B3E"/>
              </a:buClr>
              <a:buSzPts val="760"/>
              <a:buFont typeface="Noto Sans"/>
              <a:buNone/>
            </a:pPr>
            <a:r>
              <a:rPr b="1" i="0" lang="en-US" sz="760" u="none" cap="none" strike="noStrike">
                <a:solidFill>
                  <a:srgbClr val="2F6B3E"/>
                </a:solidFill>
                <a:latin typeface="Noto Sans"/>
                <a:ea typeface="Noto Sans"/>
                <a:cs typeface="Noto Sans"/>
                <a:sym typeface="Noto Sans"/>
              </a:rPr>
              <a:t>POST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1" name="Google Shape;651;p22"/>
          <p:cNvSpPr/>
          <p:nvPr/>
        </p:nvSpPr>
        <p:spPr>
          <a:xfrm>
            <a:off x="5367528" y="2926080"/>
            <a:ext cx="224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447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283447"/>
                </a:solidFill>
                <a:latin typeface="Noto Sans"/>
                <a:ea typeface="Noto Sans"/>
                <a:cs typeface="Noto Sans"/>
                <a:sym typeface="Noto Sans"/>
              </a:rPr>
              <a:t>/api/news/{id}/games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2" name="Google Shape;652;p22"/>
          <p:cNvSpPr/>
          <p:nvPr/>
        </p:nvSpPr>
        <p:spPr>
          <a:xfrm>
            <a:off x="4681728" y="3319272"/>
            <a:ext cx="567000" cy="201300"/>
          </a:xfrm>
          <a:prstGeom prst="roundRect">
            <a:avLst>
              <a:gd fmla="val 18182" name="adj"/>
            </a:avLst>
          </a:prstGeom>
          <a:solidFill>
            <a:srgbClr val="EEF6F0"/>
          </a:solidFill>
          <a:ln cap="flat" cmpd="sng" w="12700">
            <a:solidFill>
              <a:srgbClr val="EEF6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2"/>
          <p:cNvSpPr/>
          <p:nvPr/>
        </p:nvSpPr>
        <p:spPr>
          <a:xfrm>
            <a:off x="4681728" y="3330245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B3E"/>
              </a:buClr>
              <a:buSzPts val="760"/>
              <a:buFont typeface="Noto Sans"/>
              <a:buNone/>
            </a:pPr>
            <a:r>
              <a:rPr b="1" i="0" lang="en-US" sz="760" u="none" cap="none" strike="noStrike">
                <a:solidFill>
                  <a:srgbClr val="2F6B3E"/>
                </a:solidFill>
                <a:latin typeface="Noto Sans"/>
                <a:ea typeface="Noto Sans"/>
                <a:cs typeface="Noto Sans"/>
                <a:sym typeface="Noto Sans"/>
              </a:rPr>
              <a:t>POST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5367528" y="3310128"/>
            <a:ext cx="224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447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283447"/>
                </a:solidFill>
                <a:latin typeface="Noto Sans"/>
                <a:ea typeface="Noto Sans"/>
                <a:cs typeface="Noto Sans"/>
                <a:sym typeface="Noto Sans"/>
              </a:rPr>
              <a:t>/api/topics/{id}/articles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4681728" y="3703320"/>
            <a:ext cx="567000" cy="201300"/>
          </a:xfrm>
          <a:prstGeom prst="roundRect">
            <a:avLst>
              <a:gd fmla="val 18182" name="adj"/>
            </a:avLst>
          </a:prstGeom>
          <a:solidFill>
            <a:srgbClr val="EEF6F0"/>
          </a:solidFill>
          <a:ln cap="flat" cmpd="sng" w="12700">
            <a:solidFill>
              <a:srgbClr val="EEF6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2"/>
          <p:cNvSpPr/>
          <p:nvPr/>
        </p:nvSpPr>
        <p:spPr>
          <a:xfrm>
            <a:off x="4681728" y="3714293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B3E"/>
              </a:buClr>
              <a:buSzPts val="760"/>
              <a:buFont typeface="Noto Sans"/>
              <a:buNone/>
            </a:pPr>
            <a:r>
              <a:rPr b="1" i="0" lang="en-US" sz="760" u="none" cap="none" strike="noStrike">
                <a:solidFill>
                  <a:srgbClr val="2F6B3E"/>
                </a:solidFill>
                <a:latin typeface="Noto Sans"/>
                <a:ea typeface="Noto Sans"/>
                <a:cs typeface="Noto Sans"/>
                <a:sym typeface="Noto Sans"/>
              </a:rPr>
              <a:t>POST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7" name="Google Shape;657;p22"/>
          <p:cNvSpPr/>
          <p:nvPr/>
        </p:nvSpPr>
        <p:spPr>
          <a:xfrm>
            <a:off x="5367528" y="3694176"/>
            <a:ext cx="224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447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283447"/>
                </a:solidFill>
                <a:latin typeface="Noto Sans"/>
                <a:ea typeface="Noto Sans"/>
                <a:cs typeface="Noto Sans"/>
                <a:sym typeface="Noto Sans"/>
              </a:rPr>
              <a:t>/api/topics/{id}/games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8" name="Google Shape;658;p22"/>
          <p:cNvSpPr/>
          <p:nvPr/>
        </p:nvSpPr>
        <p:spPr>
          <a:xfrm>
            <a:off x="7882128" y="1554480"/>
            <a:ext cx="3420000" cy="2788800"/>
          </a:xfrm>
          <a:prstGeom prst="roundRect">
            <a:avLst>
              <a:gd fmla="val 1639" name="adj"/>
            </a:avLst>
          </a:prstGeom>
          <a:solidFill>
            <a:srgbClr val="FFFFFF"/>
          </a:solidFill>
          <a:ln cap="flat" cmpd="sng" w="12700">
            <a:solidFill>
              <a:srgbClr val="C9D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2"/>
          <p:cNvSpPr/>
          <p:nvPr/>
        </p:nvSpPr>
        <p:spPr>
          <a:xfrm>
            <a:off x="8101584" y="1764792"/>
            <a:ext cx="27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850"/>
              <a:buFont typeface="Noto Sans"/>
              <a:buNone/>
            </a:pPr>
            <a:r>
              <a:rPr b="1" i="0" lang="en-US" sz="850" u="none" cap="none" strike="noStrike">
                <a:solidFill>
                  <a:srgbClr val="1F4E8C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0" name="Google Shape;660;p22"/>
          <p:cNvSpPr/>
          <p:nvPr/>
        </p:nvSpPr>
        <p:spPr>
          <a:xfrm>
            <a:off x="8412480" y="1719072"/>
            <a:ext cx="270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31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172231"/>
                </a:solidFill>
                <a:latin typeface="Noto Sans"/>
                <a:ea typeface="Noto Sans"/>
                <a:cs typeface="Noto Sans"/>
                <a:sym typeface="Noto Sans"/>
              </a:rPr>
              <a:t>AI 내부 API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1" name="Google Shape;661;p22"/>
          <p:cNvSpPr/>
          <p:nvPr/>
        </p:nvSpPr>
        <p:spPr>
          <a:xfrm>
            <a:off x="8412480" y="2011680"/>
            <a:ext cx="2706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085"/>
              </a:buClr>
              <a:buSzPts val="820"/>
              <a:buFont typeface="Noto Sans"/>
              <a:buNone/>
            </a:pPr>
            <a:r>
              <a:rPr b="0" i="0" lang="en-US" sz="820" u="none" cap="none" strike="noStrike">
                <a:solidFill>
                  <a:srgbClr val="617085"/>
                </a:solidFill>
                <a:latin typeface="Noto Sans"/>
                <a:ea typeface="Noto Sans"/>
                <a:cs typeface="Noto Sans"/>
                <a:sym typeface="Noto Sans"/>
              </a:rPr>
              <a:t>Topic 후보 조회 · 통합 · 분석 결과 반영</a:t>
            </a:r>
            <a:endParaRPr b="0" i="0" sz="8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62" name="Google Shape;662;p22"/>
          <p:cNvCxnSpPr/>
          <p:nvPr/>
        </p:nvCxnSpPr>
        <p:spPr>
          <a:xfrm>
            <a:off x="8101584" y="2340864"/>
            <a:ext cx="2980800" cy="0"/>
          </a:xfrm>
          <a:prstGeom prst="straightConnector1">
            <a:avLst/>
          </a:prstGeom>
          <a:noFill/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3" name="Google Shape;663;p22"/>
          <p:cNvSpPr/>
          <p:nvPr/>
        </p:nvSpPr>
        <p:spPr>
          <a:xfrm>
            <a:off x="8174736" y="2551176"/>
            <a:ext cx="567000" cy="201300"/>
          </a:xfrm>
          <a:prstGeom prst="roundRect">
            <a:avLst>
              <a:gd fmla="val 18182" name="adj"/>
            </a:avLst>
          </a:prstGeom>
          <a:solidFill>
            <a:srgbClr val="EEF6F0"/>
          </a:solidFill>
          <a:ln cap="flat" cmpd="sng" w="12700">
            <a:solidFill>
              <a:srgbClr val="EEF6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2"/>
          <p:cNvSpPr/>
          <p:nvPr/>
        </p:nvSpPr>
        <p:spPr>
          <a:xfrm>
            <a:off x="8174736" y="2562149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B3E"/>
              </a:buClr>
              <a:buSzPts val="760"/>
              <a:buFont typeface="Noto Sans"/>
              <a:buNone/>
            </a:pPr>
            <a:r>
              <a:rPr b="1" i="0" lang="en-US" sz="760" u="none" cap="none" strike="noStrike">
                <a:solidFill>
                  <a:srgbClr val="2F6B3E"/>
                </a:solidFill>
                <a:latin typeface="Noto Sans"/>
                <a:ea typeface="Noto Sans"/>
                <a:cs typeface="Noto Sans"/>
                <a:sym typeface="Noto Sans"/>
              </a:rPr>
              <a:t>POST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5" name="Google Shape;665;p22"/>
          <p:cNvSpPr/>
          <p:nvPr/>
        </p:nvSpPr>
        <p:spPr>
          <a:xfrm>
            <a:off x="8860536" y="2542032"/>
            <a:ext cx="224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447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283447"/>
                </a:solidFill>
                <a:latin typeface="Noto Sans"/>
                <a:ea typeface="Noto Sans"/>
                <a:cs typeface="Noto Sans"/>
                <a:sym typeface="Noto Sans"/>
              </a:rPr>
              <a:t>/api/internal/topics/candidates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6" name="Google Shape;666;p22"/>
          <p:cNvSpPr/>
          <p:nvPr/>
        </p:nvSpPr>
        <p:spPr>
          <a:xfrm>
            <a:off x="8174736" y="2935224"/>
            <a:ext cx="567000" cy="201300"/>
          </a:xfrm>
          <a:prstGeom prst="roundRect">
            <a:avLst>
              <a:gd fmla="val 18182" name="adj"/>
            </a:avLst>
          </a:prstGeom>
          <a:solidFill>
            <a:srgbClr val="EEF6F0"/>
          </a:solidFill>
          <a:ln cap="flat" cmpd="sng" w="12700">
            <a:solidFill>
              <a:srgbClr val="EEF6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2"/>
          <p:cNvSpPr/>
          <p:nvPr/>
        </p:nvSpPr>
        <p:spPr>
          <a:xfrm>
            <a:off x="8174736" y="2946197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B3E"/>
              </a:buClr>
              <a:buSzPts val="760"/>
              <a:buFont typeface="Noto Sans"/>
              <a:buNone/>
            </a:pPr>
            <a:r>
              <a:rPr b="1" i="0" lang="en-US" sz="760" u="none" cap="none" strike="noStrike">
                <a:solidFill>
                  <a:srgbClr val="2F6B3E"/>
                </a:solidFill>
                <a:latin typeface="Noto Sans"/>
                <a:ea typeface="Noto Sans"/>
                <a:cs typeface="Noto Sans"/>
                <a:sym typeface="Noto Sans"/>
              </a:rPr>
              <a:t>POST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8" name="Google Shape;668;p22"/>
          <p:cNvSpPr/>
          <p:nvPr/>
        </p:nvSpPr>
        <p:spPr>
          <a:xfrm>
            <a:off x="8860536" y="2926080"/>
            <a:ext cx="224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447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283447"/>
                </a:solidFill>
                <a:latin typeface="Noto Sans"/>
                <a:ea typeface="Noto Sans"/>
                <a:cs typeface="Noto Sans"/>
                <a:sym typeface="Noto Sans"/>
              </a:rPr>
              <a:t>/api/internal/topics/integrate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8174736" y="3319272"/>
            <a:ext cx="567000" cy="201300"/>
          </a:xfrm>
          <a:prstGeom prst="roundRect">
            <a:avLst>
              <a:gd fmla="val 18182" name="adj"/>
            </a:avLst>
          </a:prstGeom>
          <a:solidFill>
            <a:srgbClr val="F7F1E8"/>
          </a:solidFill>
          <a:ln cap="flat" cmpd="sng" w="12700">
            <a:solidFill>
              <a:srgbClr val="F7F1E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2"/>
          <p:cNvSpPr/>
          <p:nvPr/>
        </p:nvSpPr>
        <p:spPr>
          <a:xfrm>
            <a:off x="8174736" y="3330245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20"/>
              </a:buClr>
              <a:buSzPts val="760"/>
              <a:buFont typeface="Noto Sans"/>
              <a:buNone/>
            </a:pPr>
            <a:r>
              <a:rPr b="1" i="0" lang="en-US" sz="760" u="none" cap="none" strike="noStrike">
                <a:solidFill>
                  <a:srgbClr val="8A5A20"/>
                </a:solidFill>
                <a:latin typeface="Noto Sans"/>
                <a:ea typeface="Noto Sans"/>
                <a:cs typeface="Noto Sans"/>
                <a:sym typeface="Noto Sans"/>
              </a:rPr>
              <a:t>PUT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8860536" y="3310128"/>
            <a:ext cx="224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447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283447"/>
                </a:solidFill>
                <a:latin typeface="Noto Sans"/>
                <a:ea typeface="Noto Sans"/>
                <a:cs typeface="Noto Sans"/>
                <a:sym typeface="Noto Sans"/>
              </a:rPr>
              <a:t>/api/internal/topics/{id}/analysis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2" name="Google Shape;672;p22"/>
          <p:cNvSpPr/>
          <p:nvPr/>
        </p:nvSpPr>
        <p:spPr>
          <a:xfrm>
            <a:off x="8174736" y="3703320"/>
            <a:ext cx="567000" cy="201300"/>
          </a:xfrm>
          <a:prstGeom prst="roundRect">
            <a:avLst>
              <a:gd fmla="val 18182" name="adj"/>
            </a:avLst>
          </a:prstGeom>
          <a:solidFill>
            <a:srgbClr val="EEF6F0"/>
          </a:solidFill>
          <a:ln cap="flat" cmpd="sng" w="12700">
            <a:solidFill>
              <a:srgbClr val="EEF6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2"/>
          <p:cNvSpPr/>
          <p:nvPr/>
        </p:nvSpPr>
        <p:spPr>
          <a:xfrm>
            <a:off x="8174736" y="3714293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B3E"/>
              </a:buClr>
              <a:buSzPts val="760"/>
              <a:buFont typeface="Noto Sans"/>
              <a:buNone/>
            </a:pPr>
            <a:r>
              <a:rPr b="1" i="0" lang="en-US" sz="760" u="none" cap="none" strike="noStrike">
                <a:solidFill>
                  <a:srgbClr val="2F6B3E"/>
                </a:solidFill>
                <a:latin typeface="Noto Sans"/>
                <a:ea typeface="Noto Sans"/>
                <a:cs typeface="Noto Sans"/>
                <a:sym typeface="Noto Sans"/>
              </a:rPr>
              <a:t>POST</a:t>
            </a:r>
            <a:endParaRPr b="0" i="0" sz="7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4" name="Google Shape;674;p22"/>
          <p:cNvSpPr/>
          <p:nvPr/>
        </p:nvSpPr>
        <p:spPr>
          <a:xfrm>
            <a:off x="8860536" y="3694176"/>
            <a:ext cx="224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447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283447"/>
                </a:solidFill>
                <a:latin typeface="Noto Sans"/>
                <a:ea typeface="Noto Sans"/>
                <a:cs typeface="Noto Sans"/>
                <a:sym typeface="Noto Sans"/>
              </a:rPr>
              <a:t>/api/internal/insights/topics/{id}/reanalyze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896112" y="459943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1F4E8C"/>
                </a:solidFill>
                <a:latin typeface="Noto Sans"/>
                <a:ea typeface="Noto Sans"/>
                <a:cs typeface="Noto Sans"/>
                <a:sym typeface="Noto Sans"/>
              </a:rPr>
              <a:t>통신 기준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6" name="Google Shape;676;p22"/>
          <p:cNvSpPr/>
          <p:nvPr/>
        </p:nvSpPr>
        <p:spPr>
          <a:xfrm>
            <a:off x="896112" y="4937760"/>
            <a:ext cx="4919400" cy="64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2"/>
          <p:cNvSpPr/>
          <p:nvPr/>
        </p:nvSpPr>
        <p:spPr>
          <a:xfrm>
            <a:off x="1115568" y="5084064"/>
            <a:ext cx="100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31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172231"/>
                </a:solidFill>
                <a:latin typeface="Noto Sans"/>
                <a:ea typeface="Noto Sans"/>
                <a:cs typeface="Noto Sans"/>
                <a:sym typeface="Noto Sans"/>
              </a:rPr>
              <a:t>외부 요청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2231136" y="5084064"/>
            <a:ext cx="3520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08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617085"/>
                </a:solidFill>
                <a:latin typeface="Noto Sans"/>
                <a:ea typeface="Noto Sans"/>
                <a:cs typeface="Noto Sans"/>
                <a:sym typeface="Noto Sans"/>
              </a:rPr>
              <a:t>Vue → API Gateway → User / News / Interest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5943600" y="4937760"/>
            <a:ext cx="5358300" cy="64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2"/>
          <p:cNvSpPr/>
          <p:nvPr/>
        </p:nvSpPr>
        <p:spPr>
          <a:xfrm>
            <a:off x="6163056" y="5084064"/>
            <a:ext cx="100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31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172231"/>
                </a:solidFill>
                <a:latin typeface="Noto Sans"/>
                <a:ea typeface="Noto Sans"/>
                <a:cs typeface="Noto Sans"/>
                <a:sym typeface="Noto Sans"/>
              </a:rPr>
              <a:t>내부 처리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1" name="Google Shape;681;p22"/>
          <p:cNvSpPr/>
          <p:nvPr/>
        </p:nvSpPr>
        <p:spPr>
          <a:xfrm>
            <a:off x="7296912" y="5084064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7085"/>
              </a:buClr>
              <a:buSzPts val="900"/>
              <a:buFont typeface="Noto Sans"/>
              <a:buNone/>
            </a:pPr>
            <a:r>
              <a:rPr b="0" i="0" lang="en-US" sz="900" u="none" cap="none" strike="noStrike">
                <a:solidFill>
                  <a:srgbClr val="617085"/>
                </a:solidFill>
                <a:latin typeface="Noto Sans"/>
                <a:ea typeface="Noto Sans"/>
                <a:cs typeface="Noto Sans"/>
                <a:sym typeface="Noto Sans"/>
              </a:rPr>
              <a:t>Collector / Insight → News Service REST API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2" name="Google Shape;682;p22"/>
          <p:cNvSpPr/>
          <p:nvPr/>
        </p:nvSpPr>
        <p:spPr>
          <a:xfrm>
            <a:off x="896112" y="5897880"/>
            <a:ext cx="10405800" cy="43890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D8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2"/>
          <p:cNvSpPr/>
          <p:nvPr/>
        </p:nvSpPr>
        <p:spPr>
          <a:xfrm>
            <a:off x="1097280" y="6016752"/>
            <a:ext cx="1002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8C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1F4E8C"/>
                </a:solidFill>
                <a:latin typeface="Noto Sans"/>
                <a:ea typeface="Noto Sans"/>
                <a:cs typeface="Noto Sans"/>
                <a:sym typeface="Noto Sans"/>
              </a:rPr>
              <a:t>외부 요청은 API Gateway를 통해, 수집·AI 처리는 서비스 간 내부 API로 분리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11539728" y="6336792"/>
            <a:ext cx="183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9AA6B2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5" name="Google Shape;685;p22"/>
          <p:cNvSpPr/>
          <p:nvPr/>
        </p:nvSpPr>
        <p:spPr>
          <a:xfrm>
            <a:off x="502920" y="292608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b="0"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0</a:t>
            </a:r>
            <a:r>
              <a:rPr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  <a:endParaRPr sz="1000">
              <a:solidFill>
                <a:srgbClr val="66708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"/>
          <p:cNvSpPr txBox="1"/>
          <p:nvPr/>
        </p:nvSpPr>
        <p:spPr>
          <a:xfrm>
            <a:off x="868680" y="228600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중심 Feed UI/UX 설계</a:t>
            </a:r>
            <a:endParaRPr/>
          </a:p>
        </p:txBody>
      </p:sp>
      <p:sp>
        <p:nvSpPr>
          <p:cNvPr id="691" name="Google Shape;691;p23"/>
          <p:cNvSpPr txBox="1"/>
          <p:nvPr/>
        </p:nvSpPr>
        <p:spPr>
          <a:xfrm>
            <a:off x="868680" y="71323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실제 화면 예시와 화면 동작을 기준으로 Feed 탐색 구조를 정리</a:t>
            </a:r>
            <a:endParaRPr/>
          </a:p>
        </p:txBody>
      </p:sp>
      <p:sp>
        <p:nvSpPr>
          <p:cNvPr id="692" name="Google Shape;692;p23"/>
          <p:cNvSpPr txBox="1"/>
          <p:nvPr/>
        </p:nvSpPr>
        <p:spPr>
          <a:xfrm>
            <a:off x="7026125" y="1170432"/>
            <a:ext cx="420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화면 동작 요약</a:t>
            </a:r>
            <a:endParaRPr/>
          </a:p>
        </p:txBody>
      </p:sp>
      <p:sp>
        <p:nvSpPr>
          <p:cNvPr id="693" name="Google Shape;693;p23"/>
          <p:cNvSpPr/>
          <p:nvPr/>
        </p:nvSpPr>
        <p:spPr>
          <a:xfrm>
            <a:off x="7026125" y="1645920"/>
            <a:ext cx="411600" cy="384000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4" name="Google Shape;694;p23"/>
          <p:cNvSpPr txBox="1"/>
          <p:nvPr/>
        </p:nvSpPr>
        <p:spPr>
          <a:xfrm>
            <a:off x="7071845" y="1728216"/>
            <a:ext cx="3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NO</a:t>
            </a:r>
            <a:endParaRPr/>
          </a:p>
        </p:txBody>
      </p:sp>
      <p:sp>
        <p:nvSpPr>
          <p:cNvPr id="695" name="Google Shape;695;p23"/>
          <p:cNvSpPr/>
          <p:nvPr/>
        </p:nvSpPr>
        <p:spPr>
          <a:xfrm>
            <a:off x="7437604" y="1645920"/>
            <a:ext cx="1051500" cy="384000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6" name="Google Shape;696;p23"/>
          <p:cNvSpPr txBox="1"/>
          <p:nvPr/>
        </p:nvSpPr>
        <p:spPr>
          <a:xfrm>
            <a:off x="7483325" y="1728216"/>
            <a:ext cx="96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UI 요소</a:t>
            </a:r>
            <a:endParaRPr/>
          </a:p>
        </p:txBody>
      </p:sp>
      <p:sp>
        <p:nvSpPr>
          <p:cNvPr id="697" name="Google Shape;697;p23"/>
          <p:cNvSpPr/>
          <p:nvPr/>
        </p:nvSpPr>
        <p:spPr>
          <a:xfrm>
            <a:off x="8489165" y="1645920"/>
            <a:ext cx="2697600" cy="384000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8" name="Google Shape;698;p23"/>
          <p:cNvSpPr txBox="1"/>
          <p:nvPr/>
        </p:nvSpPr>
        <p:spPr>
          <a:xfrm>
            <a:off x="8534885" y="1728216"/>
            <a:ext cx="260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인터랙션 / 로직</a:t>
            </a:r>
            <a:endParaRPr/>
          </a:p>
        </p:txBody>
      </p:sp>
      <p:sp>
        <p:nvSpPr>
          <p:cNvPr id="699" name="Google Shape;699;p23"/>
          <p:cNvSpPr/>
          <p:nvPr/>
        </p:nvSpPr>
        <p:spPr>
          <a:xfrm>
            <a:off x="7026125" y="2029968"/>
            <a:ext cx="411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0" name="Google Shape;700;p23"/>
          <p:cNvSpPr txBox="1"/>
          <p:nvPr/>
        </p:nvSpPr>
        <p:spPr>
          <a:xfrm>
            <a:off x="7071845" y="2148840"/>
            <a:ext cx="32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①</a:t>
            </a:r>
            <a:endParaRPr/>
          </a:p>
        </p:txBody>
      </p:sp>
      <p:sp>
        <p:nvSpPr>
          <p:cNvPr id="701" name="Google Shape;701;p23"/>
          <p:cNvSpPr/>
          <p:nvPr/>
        </p:nvSpPr>
        <p:spPr>
          <a:xfrm>
            <a:off x="7437604" y="2029968"/>
            <a:ext cx="10515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2" name="Google Shape;702;p23"/>
          <p:cNvSpPr txBox="1"/>
          <p:nvPr/>
        </p:nvSpPr>
        <p:spPr>
          <a:xfrm>
            <a:off x="7483325" y="2148840"/>
            <a:ext cx="96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오늘 주요뉴스</a:t>
            </a:r>
            <a:endParaRPr/>
          </a:p>
        </p:txBody>
      </p:sp>
      <p:sp>
        <p:nvSpPr>
          <p:cNvPr id="703" name="Google Shape;703;p23"/>
          <p:cNvSpPr/>
          <p:nvPr/>
        </p:nvSpPr>
        <p:spPr>
          <a:xfrm>
            <a:off x="8489165" y="2029968"/>
            <a:ext cx="2697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4" name="Google Shape;704;p23"/>
          <p:cNvSpPr txBox="1"/>
          <p:nvPr/>
        </p:nvSpPr>
        <p:spPr>
          <a:xfrm>
            <a:off x="8534885" y="2148840"/>
            <a:ext cx="260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중요도 높은 Topic을 대표 영역에 표시</a:t>
            </a:r>
            <a:endParaRPr/>
          </a:p>
        </p:txBody>
      </p:sp>
      <p:sp>
        <p:nvSpPr>
          <p:cNvPr id="705" name="Google Shape;705;p23"/>
          <p:cNvSpPr/>
          <p:nvPr/>
        </p:nvSpPr>
        <p:spPr>
          <a:xfrm>
            <a:off x="7026125" y="2624328"/>
            <a:ext cx="411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6" name="Google Shape;706;p23"/>
          <p:cNvSpPr txBox="1"/>
          <p:nvPr/>
        </p:nvSpPr>
        <p:spPr>
          <a:xfrm>
            <a:off x="7071845" y="2743200"/>
            <a:ext cx="32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②</a:t>
            </a:r>
            <a:endParaRPr/>
          </a:p>
        </p:txBody>
      </p:sp>
      <p:sp>
        <p:nvSpPr>
          <p:cNvPr id="707" name="Google Shape;707;p23"/>
          <p:cNvSpPr/>
          <p:nvPr/>
        </p:nvSpPr>
        <p:spPr>
          <a:xfrm>
            <a:off x="7437604" y="2624328"/>
            <a:ext cx="10515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8" name="Google Shape;708;p23"/>
          <p:cNvSpPr txBox="1"/>
          <p:nvPr/>
        </p:nvSpPr>
        <p:spPr>
          <a:xfrm>
            <a:off x="7483325" y="2743200"/>
            <a:ext cx="96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카테고리</a:t>
            </a:r>
            <a:endParaRPr/>
          </a:p>
        </p:txBody>
      </p:sp>
      <p:sp>
        <p:nvSpPr>
          <p:cNvPr id="709" name="Google Shape;709;p23"/>
          <p:cNvSpPr/>
          <p:nvPr/>
        </p:nvSpPr>
        <p:spPr>
          <a:xfrm>
            <a:off x="8489165" y="2624328"/>
            <a:ext cx="2697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0" name="Google Shape;710;p23"/>
          <p:cNvSpPr txBox="1"/>
          <p:nvPr/>
        </p:nvSpPr>
        <p:spPr>
          <a:xfrm>
            <a:off x="8534885" y="2743200"/>
            <a:ext cx="260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선택한 카테고리의 Topic만 표시</a:t>
            </a:r>
            <a:endParaRPr/>
          </a:p>
        </p:txBody>
      </p:sp>
      <p:sp>
        <p:nvSpPr>
          <p:cNvPr id="711" name="Google Shape;711;p23"/>
          <p:cNvSpPr/>
          <p:nvPr/>
        </p:nvSpPr>
        <p:spPr>
          <a:xfrm>
            <a:off x="7026125" y="3218688"/>
            <a:ext cx="411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2" name="Google Shape;712;p23"/>
          <p:cNvSpPr txBox="1"/>
          <p:nvPr/>
        </p:nvSpPr>
        <p:spPr>
          <a:xfrm>
            <a:off x="7071845" y="3337560"/>
            <a:ext cx="32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③</a:t>
            </a:r>
            <a:endParaRPr/>
          </a:p>
        </p:txBody>
      </p:sp>
      <p:sp>
        <p:nvSpPr>
          <p:cNvPr id="713" name="Google Shape;713;p23"/>
          <p:cNvSpPr/>
          <p:nvPr/>
        </p:nvSpPr>
        <p:spPr>
          <a:xfrm>
            <a:off x="7437604" y="3218688"/>
            <a:ext cx="10515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4" name="Google Shape;714;p23"/>
          <p:cNvSpPr txBox="1"/>
          <p:nvPr/>
        </p:nvSpPr>
        <p:spPr>
          <a:xfrm>
            <a:off x="7483325" y="3337560"/>
            <a:ext cx="960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정렬 / 시간 범위</a:t>
            </a:r>
            <a:endParaRPr/>
          </a:p>
        </p:txBody>
      </p:sp>
      <p:sp>
        <p:nvSpPr>
          <p:cNvPr id="715" name="Google Shape;715;p23"/>
          <p:cNvSpPr/>
          <p:nvPr/>
        </p:nvSpPr>
        <p:spPr>
          <a:xfrm>
            <a:off x="8489165" y="3218688"/>
            <a:ext cx="2697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6" name="Google Shape;716;p23"/>
          <p:cNvSpPr txBox="1"/>
          <p:nvPr/>
        </p:nvSpPr>
        <p:spPr>
          <a:xfrm>
            <a:off x="8534885" y="3337560"/>
            <a:ext cx="2606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최신순·중요도순·관심순 변경, 조회 범위 선택</a:t>
            </a:r>
            <a:endParaRPr/>
          </a:p>
        </p:txBody>
      </p:sp>
      <p:sp>
        <p:nvSpPr>
          <p:cNvPr id="717" name="Google Shape;717;p23"/>
          <p:cNvSpPr/>
          <p:nvPr/>
        </p:nvSpPr>
        <p:spPr>
          <a:xfrm>
            <a:off x="7026125" y="3813048"/>
            <a:ext cx="411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8" name="Google Shape;718;p23"/>
          <p:cNvSpPr txBox="1"/>
          <p:nvPr/>
        </p:nvSpPr>
        <p:spPr>
          <a:xfrm>
            <a:off x="7071845" y="3931920"/>
            <a:ext cx="32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④</a:t>
            </a:r>
            <a:endParaRPr/>
          </a:p>
        </p:txBody>
      </p:sp>
      <p:sp>
        <p:nvSpPr>
          <p:cNvPr id="719" name="Google Shape;719;p23"/>
          <p:cNvSpPr/>
          <p:nvPr/>
        </p:nvSpPr>
        <p:spPr>
          <a:xfrm>
            <a:off x="7437604" y="3813048"/>
            <a:ext cx="10515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0" name="Google Shape;720;p23"/>
          <p:cNvSpPr txBox="1"/>
          <p:nvPr/>
        </p:nvSpPr>
        <p:spPr>
          <a:xfrm>
            <a:off x="7483325" y="3931920"/>
            <a:ext cx="96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카드</a:t>
            </a:r>
            <a:endParaRPr/>
          </a:p>
        </p:txBody>
      </p:sp>
      <p:sp>
        <p:nvSpPr>
          <p:cNvPr id="721" name="Google Shape;721;p23"/>
          <p:cNvSpPr/>
          <p:nvPr/>
        </p:nvSpPr>
        <p:spPr>
          <a:xfrm>
            <a:off x="8489165" y="3813048"/>
            <a:ext cx="2697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2" name="Google Shape;722;p23"/>
          <p:cNvSpPr txBox="1"/>
          <p:nvPr/>
        </p:nvSpPr>
        <p:spPr>
          <a:xfrm>
            <a:off x="8534885" y="3931920"/>
            <a:ext cx="260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핵심 정보 표시, 선택 시 상세 이동</a:t>
            </a:r>
            <a:endParaRPr/>
          </a:p>
        </p:txBody>
      </p:sp>
      <p:sp>
        <p:nvSpPr>
          <p:cNvPr id="723" name="Google Shape;723;p23"/>
          <p:cNvSpPr/>
          <p:nvPr/>
        </p:nvSpPr>
        <p:spPr>
          <a:xfrm>
            <a:off x="7026125" y="4407408"/>
            <a:ext cx="411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4" name="Google Shape;724;p23"/>
          <p:cNvSpPr txBox="1"/>
          <p:nvPr/>
        </p:nvSpPr>
        <p:spPr>
          <a:xfrm>
            <a:off x="7071845" y="4526280"/>
            <a:ext cx="32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⑤</a:t>
            </a:r>
            <a:endParaRPr/>
          </a:p>
        </p:txBody>
      </p:sp>
      <p:sp>
        <p:nvSpPr>
          <p:cNvPr id="725" name="Google Shape;725;p23"/>
          <p:cNvSpPr/>
          <p:nvPr/>
        </p:nvSpPr>
        <p:spPr>
          <a:xfrm>
            <a:off x="7437604" y="4407408"/>
            <a:ext cx="10515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6" name="Google Shape;726;p23"/>
          <p:cNvSpPr txBox="1"/>
          <p:nvPr/>
        </p:nvSpPr>
        <p:spPr>
          <a:xfrm>
            <a:off x="7483325" y="4526280"/>
            <a:ext cx="96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더보기</a:t>
            </a:r>
            <a:endParaRPr/>
          </a:p>
        </p:txBody>
      </p:sp>
      <p:sp>
        <p:nvSpPr>
          <p:cNvPr id="727" name="Google Shape;727;p23"/>
          <p:cNvSpPr/>
          <p:nvPr/>
        </p:nvSpPr>
        <p:spPr>
          <a:xfrm>
            <a:off x="8489165" y="4407408"/>
            <a:ext cx="2697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8" name="Google Shape;728;p23"/>
          <p:cNvSpPr txBox="1"/>
          <p:nvPr/>
        </p:nvSpPr>
        <p:spPr>
          <a:xfrm>
            <a:off x="8534885" y="4526280"/>
            <a:ext cx="260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현재 목록 아래에 추가 Topic 표시</a:t>
            </a:r>
            <a:endParaRPr/>
          </a:p>
        </p:txBody>
      </p:sp>
      <p:sp>
        <p:nvSpPr>
          <p:cNvPr id="729" name="Google Shape;729;p23"/>
          <p:cNvSpPr/>
          <p:nvPr/>
        </p:nvSpPr>
        <p:spPr>
          <a:xfrm>
            <a:off x="7026125" y="5257800"/>
            <a:ext cx="4160400" cy="640200"/>
          </a:xfrm>
          <a:prstGeom prst="rect">
            <a:avLst/>
          </a:prstGeom>
          <a:solidFill>
            <a:srgbClr val="F3F6FA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0" name="Google Shape;730;p23"/>
          <p:cNvSpPr txBox="1"/>
          <p:nvPr/>
        </p:nvSpPr>
        <p:spPr>
          <a:xfrm>
            <a:off x="7209004" y="5458968"/>
            <a:ext cx="3794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기사 목록이 아니라 사건 단위 Topic을 빠르게 탐색하도록 설계</a:t>
            </a:r>
            <a:endParaRPr/>
          </a:p>
        </p:txBody>
      </p:sp>
      <p:pic>
        <p:nvPicPr>
          <p:cNvPr id="731" name="Google Shape;7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125" y="1110625"/>
            <a:ext cx="4265725" cy="5000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23"/>
          <p:cNvPicPr preferRelativeResize="0"/>
          <p:nvPr/>
        </p:nvPicPr>
        <p:blipFill rotWithShape="1">
          <a:blip r:embed="rId4">
            <a:alphaModFix/>
          </a:blip>
          <a:srcRect b="22460" l="39411" r="42499" t="51259"/>
          <a:stretch/>
        </p:blipFill>
        <p:spPr>
          <a:xfrm>
            <a:off x="4240400" y="5627775"/>
            <a:ext cx="1979775" cy="640075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23"/>
          <p:cNvSpPr/>
          <p:nvPr/>
        </p:nvSpPr>
        <p:spPr>
          <a:xfrm>
            <a:off x="960125" y="2567100"/>
            <a:ext cx="368700" cy="38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34" name="Google Shape;734;p23"/>
          <p:cNvSpPr/>
          <p:nvPr/>
        </p:nvSpPr>
        <p:spPr>
          <a:xfrm>
            <a:off x="960125" y="1764850"/>
            <a:ext cx="368700" cy="38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735" name="Google Shape;735;p23"/>
          <p:cNvSpPr/>
          <p:nvPr/>
        </p:nvSpPr>
        <p:spPr>
          <a:xfrm>
            <a:off x="4415950" y="2356750"/>
            <a:ext cx="368700" cy="38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736" name="Google Shape;736;p23"/>
          <p:cNvSpPr/>
          <p:nvPr/>
        </p:nvSpPr>
        <p:spPr>
          <a:xfrm>
            <a:off x="4296213" y="5573675"/>
            <a:ext cx="368700" cy="38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737" name="Google Shape;737;p23"/>
          <p:cNvSpPr/>
          <p:nvPr/>
        </p:nvSpPr>
        <p:spPr>
          <a:xfrm>
            <a:off x="960125" y="4147325"/>
            <a:ext cx="368700" cy="38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738" name="Google Shape;738;p23"/>
          <p:cNvSpPr/>
          <p:nvPr/>
        </p:nvSpPr>
        <p:spPr>
          <a:xfrm>
            <a:off x="502920" y="292608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b="0"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0</a:t>
            </a:r>
            <a:r>
              <a:rPr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4"/>
          <p:cNvSpPr txBox="1"/>
          <p:nvPr/>
        </p:nvSpPr>
        <p:spPr>
          <a:xfrm>
            <a:off x="868680" y="228600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상세 UI/UX 설계</a:t>
            </a:r>
            <a:endParaRPr/>
          </a:p>
        </p:txBody>
      </p:sp>
      <p:sp>
        <p:nvSpPr>
          <p:cNvPr id="744" name="Google Shape;744;p24"/>
          <p:cNvSpPr txBox="1"/>
          <p:nvPr/>
        </p:nvSpPr>
        <p:spPr>
          <a:xfrm>
            <a:off x="868680" y="71323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하나의 사건을 요약 → 의미 → 근거 순서로 확인하도록 설계</a:t>
            </a:r>
            <a:endParaRPr/>
          </a:p>
        </p:txBody>
      </p:sp>
      <p:sp>
        <p:nvSpPr>
          <p:cNvPr id="745" name="Google Shape;745;p24"/>
          <p:cNvSpPr/>
          <p:nvPr/>
        </p:nvSpPr>
        <p:spPr>
          <a:xfrm>
            <a:off x="594360" y="1143000"/>
            <a:ext cx="6400800" cy="5074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image.png" id="746" name="Google Shape;7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888" y="1321308"/>
            <a:ext cx="4809744" cy="4718304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24"/>
          <p:cNvSpPr txBox="1"/>
          <p:nvPr/>
        </p:nvSpPr>
        <p:spPr>
          <a:xfrm>
            <a:off x="7315200" y="117043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화면 동작 요약</a:t>
            </a:r>
            <a:endParaRPr/>
          </a:p>
        </p:txBody>
      </p:sp>
      <p:sp>
        <p:nvSpPr>
          <p:cNvPr id="748" name="Google Shape;748;p24"/>
          <p:cNvSpPr/>
          <p:nvPr/>
        </p:nvSpPr>
        <p:spPr>
          <a:xfrm>
            <a:off x="7315200" y="1645920"/>
            <a:ext cx="4160520" cy="384048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9" name="Google Shape;749;p24"/>
          <p:cNvSpPr/>
          <p:nvPr/>
        </p:nvSpPr>
        <p:spPr>
          <a:xfrm>
            <a:off x="7315200" y="2029968"/>
            <a:ext cx="416052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0" name="Google Shape;750;p24"/>
          <p:cNvSpPr/>
          <p:nvPr/>
        </p:nvSpPr>
        <p:spPr>
          <a:xfrm>
            <a:off x="7315200" y="2624328"/>
            <a:ext cx="416052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1" name="Google Shape;751;p24"/>
          <p:cNvSpPr/>
          <p:nvPr/>
        </p:nvSpPr>
        <p:spPr>
          <a:xfrm>
            <a:off x="7315200" y="3218688"/>
            <a:ext cx="416052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2" name="Google Shape;752;p24"/>
          <p:cNvSpPr/>
          <p:nvPr/>
        </p:nvSpPr>
        <p:spPr>
          <a:xfrm>
            <a:off x="7315200" y="3813048"/>
            <a:ext cx="416052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3" name="Google Shape;753;p24"/>
          <p:cNvSpPr/>
          <p:nvPr/>
        </p:nvSpPr>
        <p:spPr>
          <a:xfrm>
            <a:off x="7315200" y="4407408"/>
            <a:ext cx="416052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4" name="Google Shape;754;p24"/>
          <p:cNvSpPr/>
          <p:nvPr/>
        </p:nvSpPr>
        <p:spPr>
          <a:xfrm>
            <a:off x="7726679" y="1645920"/>
            <a:ext cx="9144" cy="3355848"/>
          </a:xfrm>
          <a:prstGeom prst="rect">
            <a:avLst/>
          </a:prstGeom>
          <a:solidFill>
            <a:srgbClr val="D7DEE8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5" name="Google Shape;755;p24"/>
          <p:cNvSpPr/>
          <p:nvPr/>
        </p:nvSpPr>
        <p:spPr>
          <a:xfrm>
            <a:off x="8778240" y="1645920"/>
            <a:ext cx="9144" cy="3355848"/>
          </a:xfrm>
          <a:prstGeom prst="rect">
            <a:avLst/>
          </a:prstGeom>
          <a:solidFill>
            <a:srgbClr val="D7DEE8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6" name="Google Shape;756;p24"/>
          <p:cNvSpPr txBox="1"/>
          <p:nvPr/>
        </p:nvSpPr>
        <p:spPr>
          <a:xfrm>
            <a:off x="7360920" y="1728216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NO</a:t>
            </a:r>
            <a:endParaRPr/>
          </a:p>
        </p:txBody>
      </p:sp>
      <p:sp>
        <p:nvSpPr>
          <p:cNvPr id="757" name="Google Shape;757;p24"/>
          <p:cNvSpPr txBox="1"/>
          <p:nvPr/>
        </p:nvSpPr>
        <p:spPr>
          <a:xfrm>
            <a:off x="7772400" y="172821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UI 요소</a:t>
            </a:r>
            <a:endParaRPr/>
          </a:p>
        </p:txBody>
      </p:sp>
      <p:sp>
        <p:nvSpPr>
          <p:cNvPr id="758" name="Google Shape;758;p24"/>
          <p:cNvSpPr txBox="1"/>
          <p:nvPr/>
        </p:nvSpPr>
        <p:spPr>
          <a:xfrm>
            <a:off x="8823960" y="1728216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인터랙션 / 로직</a:t>
            </a:r>
            <a:endParaRPr/>
          </a:p>
        </p:txBody>
      </p:sp>
      <p:sp>
        <p:nvSpPr>
          <p:cNvPr id="759" name="Google Shape;759;p24"/>
          <p:cNvSpPr txBox="1"/>
          <p:nvPr/>
        </p:nvSpPr>
        <p:spPr>
          <a:xfrm>
            <a:off x="7360920" y="214884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①</a:t>
            </a:r>
            <a:endParaRPr/>
          </a:p>
        </p:txBody>
      </p:sp>
      <p:sp>
        <p:nvSpPr>
          <p:cNvPr id="760" name="Google Shape;760;p24"/>
          <p:cNvSpPr txBox="1"/>
          <p:nvPr/>
        </p:nvSpPr>
        <p:spPr>
          <a:xfrm>
            <a:off x="7772400" y="214884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AI 핵심 요약</a:t>
            </a:r>
            <a:endParaRPr/>
          </a:p>
        </p:txBody>
      </p:sp>
      <p:sp>
        <p:nvSpPr>
          <p:cNvPr id="761" name="Google Shape;761;p24"/>
          <p:cNvSpPr txBox="1"/>
          <p:nvPr/>
        </p:nvSpPr>
        <p:spPr>
          <a:xfrm>
            <a:off x="8823960" y="214884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Topic에 연결된 사건의 통합 요약 표시</a:t>
            </a:r>
            <a:endParaRPr/>
          </a:p>
        </p:txBody>
      </p:sp>
      <p:sp>
        <p:nvSpPr>
          <p:cNvPr id="762" name="Google Shape;762;p24"/>
          <p:cNvSpPr txBox="1"/>
          <p:nvPr/>
        </p:nvSpPr>
        <p:spPr>
          <a:xfrm>
            <a:off x="7360920" y="274320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②</a:t>
            </a:r>
            <a:endParaRPr/>
          </a:p>
        </p:txBody>
      </p:sp>
      <p:sp>
        <p:nvSpPr>
          <p:cNvPr id="763" name="Google Shape;763;p24"/>
          <p:cNvSpPr txBox="1"/>
          <p:nvPr/>
        </p:nvSpPr>
        <p:spPr>
          <a:xfrm>
            <a:off x="7772400" y="274320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왜 중요한가</a:t>
            </a:r>
            <a:endParaRPr/>
          </a:p>
        </p:txBody>
      </p:sp>
      <p:sp>
        <p:nvSpPr>
          <p:cNvPr id="764" name="Google Shape;764;p24"/>
          <p:cNvSpPr txBox="1"/>
          <p:nvPr/>
        </p:nvSpPr>
        <p:spPr>
          <a:xfrm>
            <a:off x="8823960" y="274320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사건의 의미와 영향 설명 표시</a:t>
            </a:r>
            <a:endParaRPr/>
          </a:p>
        </p:txBody>
      </p:sp>
      <p:sp>
        <p:nvSpPr>
          <p:cNvPr id="765" name="Google Shape;765;p24"/>
          <p:cNvSpPr txBox="1"/>
          <p:nvPr/>
        </p:nvSpPr>
        <p:spPr>
          <a:xfrm>
            <a:off x="7360920" y="333756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③</a:t>
            </a:r>
            <a:endParaRPr/>
          </a:p>
        </p:txBody>
      </p:sp>
      <p:sp>
        <p:nvSpPr>
          <p:cNvPr id="766" name="Google Shape;766;p24"/>
          <p:cNvSpPr txBox="1"/>
          <p:nvPr/>
        </p:nvSpPr>
        <p:spPr>
          <a:xfrm>
            <a:off x="7772400" y="333756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관련 게임</a:t>
            </a:r>
            <a:endParaRPr/>
          </a:p>
        </p:txBody>
      </p:sp>
      <p:sp>
        <p:nvSpPr>
          <p:cNvPr id="767" name="Google Shape;767;p24"/>
          <p:cNvSpPr txBox="1"/>
          <p:nvPr/>
        </p:nvSpPr>
        <p:spPr>
          <a:xfrm>
            <a:off x="8823960" y="333756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Topic과 연결된 게임 표시</a:t>
            </a:r>
            <a:endParaRPr/>
          </a:p>
        </p:txBody>
      </p:sp>
      <p:sp>
        <p:nvSpPr>
          <p:cNvPr id="768" name="Google Shape;768;p24"/>
          <p:cNvSpPr txBox="1"/>
          <p:nvPr/>
        </p:nvSpPr>
        <p:spPr>
          <a:xfrm>
            <a:off x="7360920" y="393192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④</a:t>
            </a:r>
            <a:endParaRPr/>
          </a:p>
        </p:txBody>
      </p:sp>
      <p:sp>
        <p:nvSpPr>
          <p:cNvPr id="769" name="Google Shape;769;p24"/>
          <p:cNvSpPr txBox="1"/>
          <p:nvPr/>
        </p:nvSpPr>
        <p:spPr>
          <a:xfrm>
            <a:off x="7772400" y="393192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관련 기사</a:t>
            </a:r>
            <a:endParaRPr/>
          </a:p>
        </p:txBody>
      </p:sp>
      <p:sp>
        <p:nvSpPr>
          <p:cNvPr id="770" name="Google Shape;770;p24"/>
          <p:cNvSpPr txBox="1"/>
          <p:nvPr/>
        </p:nvSpPr>
        <p:spPr>
          <a:xfrm>
            <a:off x="8823960" y="393192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기사 출처 확인 및 원문 링크 이동</a:t>
            </a:r>
            <a:endParaRPr/>
          </a:p>
        </p:txBody>
      </p:sp>
      <p:sp>
        <p:nvSpPr>
          <p:cNvPr id="771" name="Google Shape;771;p24"/>
          <p:cNvSpPr txBox="1"/>
          <p:nvPr/>
        </p:nvSpPr>
        <p:spPr>
          <a:xfrm>
            <a:off x="7360920" y="452628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⑤</a:t>
            </a:r>
            <a:endParaRPr/>
          </a:p>
        </p:txBody>
      </p:sp>
      <p:sp>
        <p:nvSpPr>
          <p:cNvPr id="772" name="Google Shape;772;p24"/>
          <p:cNvSpPr txBox="1"/>
          <p:nvPr/>
        </p:nvSpPr>
        <p:spPr>
          <a:xfrm>
            <a:off x="7772400" y="452628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좋아요 / 댓글</a:t>
            </a:r>
            <a:endParaRPr/>
          </a:p>
        </p:txBody>
      </p:sp>
      <p:sp>
        <p:nvSpPr>
          <p:cNvPr id="773" name="Google Shape;773;p24"/>
          <p:cNvSpPr txBox="1"/>
          <p:nvPr/>
        </p:nvSpPr>
        <p:spPr>
          <a:xfrm>
            <a:off x="8823960" y="45262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단위 좋아요·댓글 상호작용</a:t>
            </a:r>
            <a:endParaRPr/>
          </a:p>
        </p:txBody>
      </p:sp>
      <p:sp>
        <p:nvSpPr>
          <p:cNvPr id="774" name="Google Shape;774;p24"/>
          <p:cNvSpPr/>
          <p:nvPr/>
        </p:nvSpPr>
        <p:spPr>
          <a:xfrm>
            <a:off x="7315200" y="5257800"/>
            <a:ext cx="4160520" cy="640080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5" name="Google Shape;775;p24"/>
          <p:cNvSpPr txBox="1"/>
          <p:nvPr/>
        </p:nvSpPr>
        <p:spPr>
          <a:xfrm>
            <a:off x="7498079" y="5458968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Feed는 빠른 탐색, 상세는 깊은 이해</a:t>
            </a:r>
            <a:endParaRPr/>
          </a:p>
        </p:txBody>
      </p:sp>
      <p:sp>
        <p:nvSpPr>
          <p:cNvPr id="776" name="Google Shape;776;p24"/>
          <p:cNvSpPr/>
          <p:nvPr/>
        </p:nvSpPr>
        <p:spPr>
          <a:xfrm>
            <a:off x="1389900" y="2240325"/>
            <a:ext cx="368700" cy="38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77" name="Google Shape;777;p24"/>
          <p:cNvSpPr/>
          <p:nvPr/>
        </p:nvSpPr>
        <p:spPr>
          <a:xfrm>
            <a:off x="1389900" y="3351300"/>
            <a:ext cx="368700" cy="38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778" name="Google Shape;778;p24"/>
          <p:cNvSpPr/>
          <p:nvPr/>
        </p:nvSpPr>
        <p:spPr>
          <a:xfrm>
            <a:off x="1389900" y="4023400"/>
            <a:ext cx="368700" cy="38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779" name="Google Shape;779;p24"/>
          <p:cNvSpPr/>
          <p:nvPr/>
        </p:nvSpPr>
        <p:spPr>
          <a:xfrm>
            <a:off x="1389900" y="4783300"/>
            <a:ext cx="368700" cy="38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780" name="Google Shape;780;p24"/>
          <p:cNvSpPr/>
          <p:nvPr/>
        </p:nvSpPr>
        <p:spPr>
          <a:xfrm>
            <a:off x="5115175" y="2912200"/>
            <a:ext cx="368700" cy="38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781" name="Google Shape;781;p24"/>
          <p:cNvSpPr/>
          <p:nvPr/>
        </p:nvSpPr>
        <p:spPr>
          <a:xfrm>
            <a:off x="502920" y="292608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5"/>
          <p:cNvSpPr txBox="1"/>
          <p:nvPr/>
        </p:nvSpPr>
        <p:spPr>
          <a:xfrm>
            <a:off x="868680" y="228600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설계 결과와 확장 방향</a:t>
            </a:r>
            <a:endParaRPr/>
          </a:p>
        </p:txBody>
      </p:sp>
      <p:sp>
        <p:nvSpPr>
          <p:cNvPr id="787" name="Google Shape;787;p25"/>
          <p:cNvSpPr txBox="1"/>
          <p:nvPr/>
        </p:nvSpPr>
        <p:spPr>
          <a:xfrm>
            <a:off x="868680" y="71323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Topic 중심 Intelligence 구조로 게임 뉴스 탐색 문제를 정리</a:t>
            </a:r>
            <a:endParaRPr/>
          </a:p>
        </p:txBody>
      </p:sp>
      <p:sp>
        <p:nvSpPr>
          <p:cNvPr id="788" name="Google Shape;788;p25"/>
          <p:cNvSpPr/>
          <p:nvPr/>
        </p:nvSpPr>
        <p:spPr>
          <a:xfrm>
            <a:off x="658368" y="1143000"/>
            <a:ext cx="5577840" cy="4343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9" name="Google Shape;789;p25"/>
          <p:cNvSpPr txBox="1"/>
          <p:nvPr/>
        </p:nvSpPr>
        <p:spPr>
          <a:xfrm>
            <a:off x="932688" y="138988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설계 결과 요약</a:t>
            </a:r>
            <a:endParaRPr/>
          </a:p>
        </p:txBody>
      </p:sp>
      <p:sp>
        <p:nvSpPr>
          <p:cNvPr id="790" name="Google Shape;790;p25"/>
          <p:cNvSpPr txBox="1"/>
          <p:nvPr/>
        </p:nvSpPr>
        <p:spPr>
          <a:xfrm>
            <a:off x="932688" y="1737360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oto Sans"/>
                <a:ea typeface="Noto Sans"/>
                <a:cs typeface="Noto Sans"/>
                <a:sym typeface="Noto Sans"/>
              </a:rPr>
              <a:t>기사 탐색 문제를 Topic 구조로 정리</a:t>
            </a:r>
            <a:endParaRPr/>
          </a:p>
        </p:txBody>
      </p:sp>
      <p:sp>
        <p:nvSpPr>
          <p:cNvPr id="791" name="Google Shape;791;p25"/>
          <p:cNvSpPr/>
          <p:nvPr/>
        </p:nvSpPr>
        <p:spPr>
          <a:xfrm>
            <a:off x="914400" y="2148840"/>
            <a:ext cx="5010912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2" name="Google Shape;792;p25"/>
          <p:cNvSpPr/>
          <p:nvPr/>
        </p:nvSpPr>
        <p:spPr>
          <a:xfrm>
            <a:off x="1078992" y="2267712"/>
            <a:ext cx="1554480" cy="329184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3" name="Google Shape;793;p25"/>
          <p:cNvSpPr txBox="1"/>
          <p:nvPr/>
        </p:nvSpPr>
        <p:spPr>
          <a:xfrm>
            <a:off x="1170432" y="23271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기사 중심 탐색</a:t>
            </a:r>
            <a:endParaRPr/>
          </a:p>
        </p:txBody>
      </p:sp>
      <p:sp>
        <p:nvSpPr>
          <p:cNvPr id="794" name="Google Shape;794;p25"/>
          <p:cNvSpPr txBox="1"/>
          <p:nvPr/>
        </p:nvSpPr>
        <p:spPr>
          <a:xfrm>
            <a:off x="2862072" y="2295144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sp>
        <p:nvSpPr>
          <p:cNvPr id="795" name="Google Shape;795;p25"/>
          <p:cNvSpPr/>
          <p:nvPr/>
        </p:nvSpPr>
        <p:spPr>
          <a:xfrm>
            <a:off x="3383280" y="2267712"/>
            <a:ext cx="2148840" cy="329184"/>
          </a:xfrm>
          <a:prstGeom prst="rect">
            <a:avLst/>
          </a:prstGeom>
          <a:solidFill>
            <a:srgbClr val="EEF4FB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6" name="Google Shape;796;p25"/>
          <p:cNvSpPr txBox="1"/>
          <p:nvPr/>
        </p:nvSpPr>
        <p:spPr>
          <a:xfrm>
            <a:off x="3493008" y="232714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중심 탐색</a:t>
            </a:r>
            <a:endParaRPr/>
          </a:p>
        </p:txBody>
      </p:sp>
      <p:sp>
        <p:nvSpPr>
          <p:cNvPr id="797" name="Google Shape;797;p25"/>
          <p:cNvSpPr/>
          <p:nvPr/>
        </p:nvSpPr>
        <p:spPr>
          <a:xfrm>
            <a:off x="914400" y="2907792"/>
            <a:ext cx="5010912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8" name="Google Shape;798;p25"/>
          <p:cNvSpPr/>
          <p:nvPr/>
        </p:nvSpPr>
        <p:spPr>
          <a:xfrm>
            <a:off x="1078992" y="3026664"/>
            <a:ext cx="1554480" cy="329184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9" name="Google Shape;799;p25"/>
          <p:cNvSpPr txBox="1"/>
          <p:nvPr/>
        </p:nvSpPr>
        <p:spPr>
          <a:xfrm>
            <a:off x="1170432" y="30861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반복 기사 확인</a:t>
            </a:r>
            <a:endParaRPr/>
          </a:p>
        </p:txBody>
      </p:sp>
      <p:sp>
        <p:nvSpPr>
          <p:cNvPr id="800" name="Google Shape;800;p25"/>
          <p:cNvSpPr txBox="1"/>
          <p:nvPr/>
        </p:nvSpPr>
        <p:spPr>
          <a:xfrm>
            <a:off x="2862072" y="3054096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sp>
        <p:nvSpPr>
          <p:cNvPr id="801" name="Google Shape;801;p25"/>
          <p:cNvSpPr/>
          <p:nvPr/>
        </p:nvSpPr>
        <p:spPr>
          <a:xfrm>
            <a:off x="3383280" y="3026664"/>
            <a:ext cx="2148840" cy="329184"/>
          </a:xfrm>
          <a:prstGeom prst="rect">
            <a:avLst/>
          </a:prstGeom>
          <a:solidFill>
            <a:srgbClr val="EEF4FB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2" name="Google Shape;802;p25"/>
          <p:cNvSpPr txBox="1"/>
          <p:nvPr/>
        </p:nvSpPr>
        <p:spPr>
          <a:xfrm>
            <a:off x="3493008" y="308610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동일 사건 통합</a:t>
            </a:r>
            <a:endParaRPr/>
          </a:p>
        </p:txBody>
      </p:sp>
      <p:sp>
        <p:nvSpPr>
          <p:cNvPr id="803" name="Google Shape;803;p25"/>
          <p:cNvSpPr/>
          <p:nvPr/>
        </p:nvSpPr>
        <p:spPr>
          <a:xfrm>
            <a:off x="914400" y="3666744"/>
            <a:ext cx="5010912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4" name="Google Shape;804;p25"/>
          <p:cNvSpPr/>
          <p:nvPr/>
        </p:nvSpPr>
        <p:spPr>
          <a:xfrm>
            <a:off x="1078992" y="3785615"/>
            <a:ext cx="1554480" cy="329184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5" name="Google Shape;805;p25"/>
          <p:cNvSpPr txBox="1"/>
          <p:nvPr/>
        </p:nvSpPr>
        <p:spPr>
          <a:xfrm>
            <a:off x="1170432" y="38450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단순 요약</a:t>
            </a:r>
            <a:endParaRPr/>
          </a:p>
        </p:txBody>
      </p:sp>
      <p:sp>
        <p:nvSpPr>
          <p:cNvPr id="806" name="Google Shape;806;p25"/>
          <p:cNvSpPr txBox="1"/>
          <p:nvPr/>
        </p:nvSpPr>
        <p:spPr>
          <a:xfrm>
            <a:off x="2862072" y="3813048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sp>
        <p:nvSpPr>
          <p:cNvPr id="807" name="Google Shape;807;p25"/>
          <p:cNvSpPr/>
          <p:nvPr/>
        </p:nvSpPr>
        <p:spPr>
          <a:xfrm>
            <a:off x="3383280" y="3785615"/>
            <a:ext cx="2148840" cy="329184"/>
          </a:xfrm>
          <a:prstGeom prst="rect">
            <a:avLst/>
          </a:prstGeom>
          <a:solidFill>
            <a:srgbClr val="EEF4FB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8" name="Google Shape;808;p25"/>
          <p:cNvSpPr txBox="1"/>
          <p:nvPr/>
        </p:nvSpPr>
        <p:spPr>
          <a:xfrm>
            <a:off x="3493008" y="38450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중요도 · 왜 중요한가</a:t>
            </a:r>
            <a:endParaRPr/>
          </a:p>
        </p:txBody>
      </p:sp>
      <p:sp>
        <p:nvSpPr>
          <p:cNvPr id="809" name="Google Shape;809;p25"/>
          <p:cNvSpPr/>
          <p:nvPr/>
        </p:nvSpPr>
        <p:spPr>
          <a:xfrm>
            <a:off x="914400" y="4425696"/>
            <a:ext cx="5010912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0" name="Google Shape;810;p25"/>
          <p:cNvSpPr/>
          <p:nvPr/>
        </p:nvSpPr>
        <p:spPr>
          <a:xfrm>
            <a:off x="1078992" y="4544568"/>
            <a:ext cx="1554480" cy="329184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1" name="Google Shape;811;p25"/>
          <p:cNvSpPr txBox="1"/>
          <p:nvPr/>
        </p:nvSpPr>
        <p:spPr>
          <a:xfrm>
            <a:off x="1170432" y="460400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일괄 Feed</a:t>
            </a:r>
            <a:endParaRPr/>
          </a:p>
        </p:txBody>
      </p:sp>
      <p:sp>
        <p:nvSpPr>
          <p:cNvPr id="812" name="Google Shape;812;p25"/>
          <p:cNvSpPr txBox="1"/>
          <p:nvPr/>
        </p:nvSpPr>
        <p:spPr>
          <a:xfrm>
            <a:off x="2862072" y="457200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sp>
        <p:nvSpPr>
          <p:cNvPr id="813" name="Google Shape;813;p25"/>
          <p:cNvSpPr/>
          <p:nvPr/>
        </p:nvSpPr>
        <p:spPr>
          <a:xfrm>
            <a:off x="3383280" y="4544568"/>
            <a:ext cx="2148840" cy="329184"/>
          </a:xfrm>
          <a:prstGeom prst="rect">
            <a:avLst/>
          </a:prstGeom>
          <a:solidFill>
            <a:srgbClr val="EEF4FB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4" name="Google Shape;814;p25"/>
          <p:cNvSpPr txBox="1"/>
          <p:nvPr/>
        </p:nvSpPr>
        <p:spPr>
          <a:xfrm>
            <a:off x="3493008" y="460400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D293D"/>
                </a:solidFill>
                <a:latin typeface="Noto Sans"/>
                <a:ea typeface="Noto Sans"/>
                <a:cs typeface="Noto Sans"/>
                <a:sym typeface="Noto Sans"/>
              </a:rPr>
              <a:t>관심 게임 기반 Feed</a:t>
            </a:r>
            <a:endParaRPr/>
          </a:p>
        </p:txBody>
      </p:sp>
      <p:sp>
        <p:nvSpPr>
          <p:cNvPr id="815" name="Google Shape;815;p25"/>
          <p:cNvSpPr/>
          <p:nvPr/>
        </p:nvSpPr>
        <p:spPr>
          <a:xfrm>
            <a:off x="6492240" y="1143000"/>
            <a:ext cx="5029200" cy="4343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6" name="Google Shape;816;p25"/>
          <p:cNvSpPr txBox="1"/>
          <p:nvPr/>
        </p:nvSpPr>
        <p:spPr>
          <a:xfrm>
            <a:off x="6766560" y="138988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후속 확장 방향</a:t>
            </a:r>
            <a:endParaRPr/>
          </a:p>
        </p:txBody>
      </p:sp>
      <p:sp>
        <p:nvSpPr>
          <p:cNvPr id="817" name="Google Shape;817;p25"/>
          <p:cNvSpPr txBox="1"/>
          <p:nvPr/>
        </p:nvSpPr>
        <p:spPr>
          <a:xfrm>
            <a:off x="6766560" y="1737360"/>
            <a:ext cx="4297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핵심 구조를 유지한 상태에서 확장 가능한 영역</a:t>
            </a:r>
            <a:endParaRPr/>
          </a:p>
        </p:txBody>
      </p:sp>
      <p:sp>
        <p:nvSpPr>
          <p:cNvPr id="818" name="Google Shape;818;p25"/>
          <p:cNvSpPr/>
          <p:nvPr/>
        </p:nvSpPr>
        <p:spPr>
          <a:xfrm>
            <a:off x="6748272" y="2112264"/>
            <a:ext cx="4425696" cy="429768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9" name="Google Shape;819;p25"/>
          <p:cNvSpPr txBox="1"/>
          <p:nvPr/>
        </p:nvSpPr>
        <p:spPr>
          <a:xfrm>
            <a:off x="6903720" y="222199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/>
          </a:p>
        </p:txBody>
      </p:sp>
      <p:sp>
        <p:nvSpPr>
          <p:cNvPr id="820" name="Google Shape;820;p25"/>
          <p:cNvSpPr txBox="1"/>
          <p:nvPr/>
        </p:nvSpPr>
        <p:spPr>
          <a:xfrm>
            <a:off x="7223760" y="2199132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반응 데이터 확장</a:t>
            </a:r>
            <a:endParaRPr/>
          </a:p>
        </p:txBody>
      </p:sp>
      <p:sp>
        <p:nvSpPr>
          <p:cNvPr id="821" name="Google Shape;821;p25"/>
          <p:cNvSpPr txBox="1"/>
          <p:nvPr/>
        </p:nvSpPr>
        <p:spPr>
          <a:xfrm>
            <a:off x="8823960" y="219913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커뮤니티 · Reddit · YouTube · Steam · 스트리머</a:t>
            </a:r>
            <a:endParaRPr/>
          </a:p>
        </p:txBody>
      </p:sp>
      <p:sp>
        <p:nvSpPr>
          <p:cNvPr id="822" name="Google Shape;822;p25"/>
          <p:cNvSpPr/>
          <p:nvPr/>
        </p:nvSpPr>
        <p:spPr>
          <a:xfrm>
            <a:off x="6748272" y="2679192"/>
            <a:ext cx="4425696" cy="429768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3" name="Google Shape;823;p25"/>
          <p:cNvSpPr txBox="1"/>
          <p:nvPr/>
        </p:nvSpPr>
        <p:spPr>
          <a:xfrm>
            <a:off x="6903720" y="278892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/>
          </a:p>
        </p:txBody>
      </p:sp>
      <p:sp>
        <p:nvSpPr>
          <p:cNvPr id="824" name="Google Shape;824;p25"/>
          <p:cNvSpPr txBox="1"/>
          <p:nvPr/>
        </p:nvSpPr>
        <p:spPr>
          <a:xfrm>
            <a:off x="7223760" y="276606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검색 · 북마크 · 알림</a:t>
            </a:r>
            <a:endParaRPr/>
          </a:p>
        </p:txBody>
      </p:sp>
      <p:sp>
        <p:nvSpPr>
          <p:cNvPr id="825" name="Google Shape;825;p25"/>
          <p:cNvSpPr txBox="1"/>
          <p:nvPr/>
        </p:nvSpPr>
        <p:spPr>
          <a:xfrm>
            <a:off x="8823960" y="2766060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사용자 탐색 및 재방문 기능 확장</a:t>
            </a:r>
            <a:endParaRPr/>
          </a:p>
        </p:txBody>
      </p:sp>
      <p:sp>
        <p:nvSpPr>
          <p:cNvPr id="826" name="Google Shape;826;p25"/>
          <p:cNvSpPr/>
          <p:nvPr/>
        </p:nvSpPr>
        <p:spPr>
          <a:xfrm>
            <a:off x="6748272" y="3246120"/>
            <a:ext cx="4425696" cy="429768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7" name="Google Shape;827;p25"/>
          <p:cNvSpPr txBox="1"/>
          <p:nvPr/>
        </p:nvSpPr>
        <p:spPr>
          <a:xfrm>
            <a:off x="6903720" y="335584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/>
          </a:p>
        </p:txBody>
      </p:sp>
      <p:sp>
        <p:nvSpPr>
          <p:cNvPr id="828" name="Google Shape;828;p25"/>
          <p:cNvSpPr txBox="1"/>
          <p:nvPr/>
        </p:nvSpPr>
        <p:spPr>
          <a:xfrm>
            <a:off x="7223760" y="3332988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Topic 타임라인</a:t>
            </a:r>
            <a:endParaRPr/>
          </a:p>
        </p:txBody>
      </p:sp>
      <p:sp>
        <p:nvSpPr>
          <p:cNvPr id="829" name="Google Shape;829;p25"/>
          <p:cNvSpPr txBox="1"/>
          <p:nvPr/>
        </p:nvSpPr>
        <p:spPr>
          <a:xfrm>
            <a:off x="8823960" y="3332988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사건의 최초 발견 · 업데이트 흐름 시각화</a:t>
            </a:r>
            <a:endParaRPr/>
          </a:p>
        </p:txBody>
      </p:sp>
      <p:sp>
        <p:nvSpPr>
          <p:cNvPr id="830" name="Google Shape;830;p25"/>
          <p:cNvSpPr/>
          <p:nvPr/>
        </p:nvSpPr>
        <p:spPr>
          <a:xfrm>
            <a:off x="6748272" y="3813048"/>
            <a:ext cx="4425696" cy="429768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1" name="Google Shape;831;p25"/>
          <p:cNvSpPr txBox="1"/>
          <p:nvPr/>
        </p:nvSpPr>
        <p:spPr>
          <a:xfrm>
            <a:off x="6903720" y="392277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/>
          </a:p>
        </p:txBody>
      </p:sp>
      <p:sp>
        <p:nvSpPr>
          <p:cNvPr id="832" name="Google Shape;832;p25"/>
          <p:cNvSpPr txBox="1"/>
          <p:nvPr/>
        </p:nvSpPr>
        <p:spPr>
          <a:xfrm>
            <a:off x="7223760" y="3899915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신뢰도 분석</a:t>
            </a:r>
            <a:endParaRPr/>
          </a:p>
        </p:txBody>
      </p:sp>
      <p:sp>
        <p:nvSpPr>
          <p:cNvPr id="833" name="Google Shape;833;p25"/>
          <p:cNvSpPr txBox="1"/>
          <p:nvPr/>
        </p:nvSpPr>
        <p:spPr>
          <a:xfrm>
            <a:off x="8823960" y="3899915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출처와 Topic 정보의 신뢰도 보강</a:t>
            </a:r>
            <a:endParaRPr/>
          </a:p>
        </p:txBody>
      </p:sp>
      <p:sp>
        <p:nvSpPr>
          <p:cNvPr id="834" name="Google Shape;834;p25"/>
          <p:cNvSpPr/>
          <p:nvPr/>
        </p:nvSpPr>
        <p:spPr>
          <a:xfrm>
            <a:off x="6748272" y="4379976"/>
            <a:ext cx="4425696" cy="429768"/>
          </a:xfrm>
          <a:prstGeom prst="rect">
            <a:avLst/>
          </a:prstGeom>
          <a:solidFill>
            <a:srgbClr val="F3F6FA"/>
          </a:solidFill>
          <a:ln cap="flat" cmpd="sng" w="9525">
            <a:solidFill>
              <a:srgbClr val="E7EC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5" name="Google Shape;835;p25"/>
          <p:cNvSpPr txBox="1"/>
          <p:nvPr/>
        </p:nvSpPr>
        <p:spPr>
          <a:xfrm>
            <a:off x="6903720" y="448970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/>
          </a:p>
        </p:txBody>
      </p:sp>
      <p:sp>
        <p:nvSpPr>
          <p:cNvPr id="836" name="Google Shape;836;p25"/>
          <p:cNvSpPr txBox="1"/>
          <p:nvPr/>
        </p:nvSpPr>
        <p:spPr>
          <a:xfrm>
            <a:off x="7223760" y="4466844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C2430"/>
                </a:solidFill>
                <a:latin typeface="Noto Sans"/>
                <a:ea typeface="Noto Sans"/>
                <a:cs typeface="Noto Sans"/>
                <a:sym typeface="Noto Sans"/>
              </a:rPr>
              <a:t>고급 개인화</a:t>
            </a:r>
            <a:endParaRPr/>
          </a:p>
        </p:txBody>
      </p:sp>
      <p:sp>
        <p:nvSpPr>
          <p:cNvPr id="837" name="Google Shape;837;p25"/>
          <p:cNvSpPr txBox="1"/>
          <p:nvPr/>
        </p:nvSpPr>
        <p:spPr>
          <a:xfrm>
            <a:off x="8823960" y="4466844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9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고급 추천 모델 및 관리자 기능 확장</a:t>
            </a:r>
            <a:endParaRPr/>
          </a:p>
        </p:txBody>
      </p:sp>
      <p:sp>
        <p:nvSpPr>
          <p:cNvPr id="838" name="Google Shape;838;p25"/>
          <p:cNvSpPr/>
          <p:nvPr/>
        </p:nvSpPr>
        <p:spPr>
          <a:xfrm>
            <a:off x="658368" y="5650992"/>
            <a:ext cx="10863072" cy="603504"/>
          </a:xfrm>
          <a:prstGeom prst="rect">
            <a:avLst/>
          </a:prstGeom>
          <a:solidFill>
            <a:srgbClr val="EEF4FB"/>
          </a:solidFill>
          <a:ln cap="flat" cmpd="sng" w="9525">
            <a:solidFill>
              <a:srgbClr val="D7D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9" name="Google Shape;839;p25"/>
          <p:cNvSpPr txBox="1"/>
          <p:nvPr/>
        </p:nvSpPr>
        <p:spPr>
          <a:xfrm>
            <a:off x="960120" y="5824728"/>
            <a:ext cx="10241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15B8A"/>
                </a:solidFill>
                <a:latin typeface="Noto Sans"/>
                <a:ea typeface="Noto Sans"/>
                <a:cs typeface="Noto Sans"/>
                <a:sym typeface="Noto Sans"/>
              </a:rPr>
              <a:t>뉴스를 더 많이 보여주는 것이 아니라, 여러 뉴스를 하나의 사건으로 이해하도록 설계</a:t>
            </a:r>
            <a:endParaRPr/>
          </a:p>
        </p:txBody>
      </p:sp>
      <p:sp>
        <p:nvSpPr>
          <p:cNvPr id="840" name="Google Shape;840;p25"/>
          <p:cNvSpPr/>
          <p:nvPr/>
        </p:nvSpPr>
        <p:spPr>
          <a:xfrm>
            <a:off x="502920" y="292608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67085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